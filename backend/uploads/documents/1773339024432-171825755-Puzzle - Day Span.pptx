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9"/>
  </p:notesMasterIdLst>
  <p:sldIdLst>
    <p:sldId id="309" r:id="rId2"/>
    <p:sldId id="367" r:id="rId3"/>
    <p:sldId id="358" r:id="rId4"/>
    <p:sldId id="369" r:id="rId5"/>
    <p:sldId id="359" r:id="rId6"/>
    <p:sldId id="360" r:id="rId7"/>
    <p:sldId id="370" r:id="rId8"/>
    <p:sldId id="361" r:id="rId9"/>
    <p:sldId id="362" r:id="rId10"/>
    <p:sldId id="371" r:id="rId11"/>
    <p:sldId id="363" r:id="rId12"/>
    <p:sldId id="364" r:id="rId13"/>
    <p:sldId id="372" r:id="rId14"/>
    <p:sldId id="365" r:id="rId15"/>
    <p:sldId id="366" r:id="rId16"/>
    <p:sldId id="373" r:id="rId17"/>
    <p:sldId id="3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8EFC"/>
    <a:srgbClr val="FE6400"/>
    <a:srgbClr val="B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4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>
        <p:guide orient="horz" pos="2160"/>
        <p:guide pos="384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1EA01-0F0C-4DE8-B813-35A3FC47D733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163DC-F9C0-4AEA-8660-BBA8B696315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E25A-24E1-84D7-2423-F00FFD68A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A20A3A-7C31-D716-3E2C-657FA76AB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861A6-B356-0705-8BA4-D01E20E46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ACE10-5FB8-84BF-0C4B-0DCB84E5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D636-C881-E38E-FBF6-520EE7BE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080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7279-1BD7-948A-9360-0AB57366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874DE-13C8-D18E-8198-25DD65C66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BC403-D243-C22D-582C-291D65215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97DBB-8EEF-4D9A-AADE-56FA97C9F71E}" type="datetimeFigureOut">
              <a:rPr lang="en-IN" smtClean="0"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F120D-5362-A4D3-73BB-43A4D1E9F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C952D-0305-6079-B553-B6D04F78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555B-6B32-4B7B-8F94-548A94EE244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8DF022-2D97-95AF-E605-62D4CBAD646C}"/>
              </a:ext>
            </a:extLst>
          </p:cNvPr>
          <p:cNvSpPr/>
          <p:nvPr userDrawn="1"/>
        </p:nvSpPr>
        <p:spPr>
          <a:xfrm>
            <a:off x="4005792" y="1338792"/>
            <a:ext cx="4180416" cy="4180416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782CFAA-6051-98A9-D1C0-961DAA0FDDA3}"/>
              </a:ext>
            </a:extLst>
          </p:cNvPr>
          <p:cNvSpPr/>
          <p:nvPr userDrawn="1"/>
        </p:nvSpPr>
        <p:spPr>
          <a:xfrm rot="10800000" flipH="1">
            <a:off x="5191124" y="6439955"/>
            <a:ext cx="6997050" cy="420957"/>
          </a:xfrm>
          <a:custGeom>
            <a:avLst/>
            <a:gdLst>
              <a:gd name="connsiteX0" fmla="*/ 274746 w 6997050"/>
              <a:gd name="connsiteY0" fmla="*/ 474402 h 474402"/>
              <a:gd name="connsiteX1" fmla="*/ 5454000 w 6997050"/>
              <a:gd name="connsiteY1" fmla="*/ 474402 h 474402"/>
              <a:gd name="connsiteX2" fmla="*/ 5454000 w 6997050"/>
              <a:gd name="connsiteY2" fmla="*/ 473606 h 474402"/>
              <a:gd name="connsiteX3" fmla="*/ 6997050 w 6997050"/>
              <a:gd name="connsiteY3" fmla="*/ 473606 h 474402"/>
              <a:gd name="connsiteX4" fmla="*/ 6997050 w 6997050"/>
              <a:gd name="connsiteY4" fmla="*/ 0 h 474402"/>
              <a:gd name="connsiteX5" fmla="*/ 5454000 w 6997050"/>
              <a:gd name="connsiteY5" fmla="*/ 0 h 474402"/>
              <a:gd name="connsiteX6" fmla="*/ 5454000 w 6997050"/>
              <a:gd name="connsiteY6" fmla="*/ 797 h 474402"/>
              <a:gd name="connsiteX7" fmla="*/ 0 w 6997050"/>
              <a:gd name="connsiteY7" fmla="*/ 797 h 47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97050" h="474402">
                <a:moveTo>
                  <a:pt x="274746" y="474402"/>
                </a:moveTo>
                <a:lnTo>
                  <a:pt x="5454000" y="474402"/>
                </a:lnTo>
                <a:lnTo>
                  <a:pt x="5454000" y="473606"/>
                </a:lnTo>
                <a:lnTo>
                  <a:pt x="6997050" y="473606"/>
                </a:lnTo>
                <a:lnTo>
                  <a:pt x="6997050" y="0"/>
                </a:lnTo>
                <a:lnTo>
                  <a:pt x="5454000" y="0"/>
                </a:lnTo>
                <a:lnTo>
                  <a:pt x="5454000" y="797"/>
                </a:lnTo>
                <a:lnTo>
                  <a:pt x="0" y="797"/>
                </a:lnTo>
                <a:close/>
              </a:path>
            </a:pathLst>
          </a:custGeom>
          <a:solidFill>
            <a:srgbClr val="108E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64D40B2-E9E0-8F1D-AA18-E54B525F2100}"/>
              </a:ext>
            </a:extLst>
          </p:cNvPr>
          <p:cNvSpPr/>
          <p:nvPr userDrawn="1"/>
        </p:nvSpPr>
        <p:spPr>
          <a:xfrm>
            <a:off x="1" y="6439956"/>
            <a:ext cx="5490211" cy="418044"/>
          </a:xfrm>
          <a:custGeom>
            <a:avLst/>
            <a:gdLst>
              <a:gd name="connsiteX0" fmla="*/ 0 w 5490211"/>
              <a:gd name="connsiteY0" fmla="*/ 0 h 473605"/>
              <a:gd name="connsiteX1" fmla="*/ 5490211 w 5490211"/>
              <a:gd name="connsiteY1" fmla="*/ 0 h 473605"/>
              <a:gd name="connsiteX2" fmla="*/ 5215520 w 5490211"/>
              <a:gd name="connsiteY2" fmla="*/ 473605 h 473605"/>
              <a:gd name="connsiteX3" fmla="*/ 0 w 5490211"/>
              <a:gd name="connsiteY3" fmla="*/ 473605 h 47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0211" h="473605">
                <a:moveTo>
                  <a:pt x="0" y="0"/>
                </a:moveTo>
                <a:lnTo>
                  <a:pt x="5490211" y="0"/>
                </a:lnTo>
                <a:lnTo>
                  <a:pt x="5215520" y="473605"/>
                </a:lnTo>
                <a:lnTo>
                  <a:pt x="0" y="473605"/>
                </a:lnTo>
                <a:close/>
              </a:path>
            </a:pathLst>
          </a:custGeom>
          <a:solidFill>
            <a:srgbClr val="FE6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B5E5DF-EE1C-E525-9580-59042B26087B}"/>
              </a:ext>
            </a:extLst>
          </p:cNvPr>
          <p:cNvSpPr/>
          <p:nvPr userDrawn="1"/>
        </p:nvSpPr>
        <p:spPr>
          <a:xfrm>
            <a:off x="0" y="0"/>
            <a:ext cx="12192000" cy="1016000"/>
          </a:xfrm>
          <a:prstGeom prst="rect">
            <a:avLst/>
          </a:prstGeom>
          <a:gradFill flip="none" rotWithShape="1">
            <a:gsLst>
              <a:gs pos="0">
                <a:srgbClr val="FE6400"/>
              </a:gs>
              <a:gs pos="100000">
                <a:srgbClr val="108EF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9F7AEBF-5061-6C82-3514-11EBDBA7ED8E}"/>
              </a:ext>
            </a:extLst>
          </p:cNvPr>
          <p:cNvSpPr txBox="1">
            <a:spLocks/>
          </p:cNvSpPr>
          <p:nvPr userDrawn="1"/>
        </p:nvSpPr>
        <p:spPr>
          <a:xfrm>
            <a:off x="355600" y="5683515"/>
            <a:ext cx="1158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6DD10B-3E72-A4C2-D956-A531A49370D0}"/>
              </a:ext>
            </a:extLst>
          </p:cNvPr>
          <p:cNvSpPr txBox="1"/>
          <p:nvPr userDrawn="1"/>
        </p:nvSpPr>
        <p:spPr>
          <a:xfrm>
            <a:off x="1118954" y="6464312"/>
            <a:ext cx="3394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Aptitude Classes by Anuj Sir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776C82-E53B-B058-E949-92636F5DD142}"/>
              </a:ext>
            </a:extLst>
          </p:cNvPr>
          <p:cNvSpPr txBox="1"/>
          <p:nvPr userDrawn="1"/>
        </p:nvSpPr>
        <p:spPr>
          <a:xfrm>
            <a:off x="6252259" y="6464312"/>
            <a:ext cx="5634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For more tutorials Visit now www.testurprep.com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AC7731-1FAE-3854-B8D9-59566015D8D9}"/>
              </a:ext>
            </a:extLst>
          </p:cNvPr>
          <p:cNvSpPr/>
          <p:nvPr userDrawn="1"/>
        </p:nvSpPr>
        <p:spPr>
          <a:xfrm>
            <a:off x="158099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3344219-A4CA-4957-05F3-4C23435E9896}"/>
              </a:ext>
            </a:extLst>
          </p:cNvPr>
          <p:cNvSpPr/>
          <p:nvPr userDrawn="1"/>
        </p:nvSpPr>
        <p:spPr>
          <a:xfrm>
            <a:off x="11311874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51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0747-9AD1-2384-0278-DB9A8FA8F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B7CFF-B9F4-2A44-6358-9CFA077A0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AE340-5620-F89F-54B2-0655140B1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F9E00-1A0E-63A8-3330-934CD5A53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06D14-C683-ABE3-F088-2E950D6C0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821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CC6D7-1E88-055F-3FA4-9CA1C8F8A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39ECF-D270-0F43-9376-3B118ACD2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696B1-7D43-7231-9564-B84B34028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EEA54-6FEC-1A75-7B31-08446EF3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66CC07-EB20-FD22-1E83-4EEB7714F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AE961-A542-C2F8-DD42-1DEAC5072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6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EA45-F10E-5B02-4FC4-39C69D34A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C5DFE-708B-2243-A722-9F9DA325C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7032A6-F2D9-84F4-3E27-F037690F0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54226-AD27-F9C4-1529-15B95AE23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1747B0-7BC9-14AD-2A38-F3C710EC2D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5CCEFF-D0D9-9A8E-B8F8-178DA23F7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64B416-0BA6-F74C-B29A-44F056866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C23119-8BE3-23E2-05C8-40ADF60F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39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EC2B-F7A3-E4E3-EDB3-94FA26541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59CF3E-DCFC-5BC2-E3B6-F67CEAF3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B34DF-7994-AB5A-F8FB-5BDC2B1BD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72FAF-D804-930D-6001-DA1AFC58D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414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5E3088-F349-D47B-9622-EC4F5D45E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94AA3A-EC61-11A4-8045-C1DFF32E2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FCB1D-BA24-9DCC-81F6-4ED4B6935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355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D2BAD-3661-54FF-00B5-80B1BD598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752BD-9EF4-6730-84B4-A398F7FB6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23760-5B7B-D14E-A4C3-0E0D4086E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9C92E-4149-4C65-8C16-14E7944F3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D03CA-751B-4668-0AEA-7B51FD555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777E5-D5E7-8B14-EC7F-8BC61C08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631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78BA-D0EF-D797-6319-B4C8428E9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2A05BA-8B8A-87CA-966C-D2DB528D3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5BF60D-6C7B-266B-7D8C-F78D6FC29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13AE4-88F5-71DD-AF8E-3C99226DF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3FF84-B2A9-930C-2B2A-1B562F758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8C27F-30B5-AEE1-F6AC-35A6A20DF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388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E29EE-78C5-02E2-70FB-DD3090103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452A73-82C4-7929-4B56-3DB85C096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BBE8-3FB9-C588-4A6C-D33DADFD5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B70A5-940F-A693-55AD-2B831A46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C795A-9061-5911-BE12-95ADB0A8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000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537338-8194-E368-19F9-AC7DD0429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72454-3783-1B7A-B65A-BDB795826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10ADD-7456-8A6F-973E-FBCCC6F7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AE757-5737-9ACC-53CE-C1F7F135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47A2C-7BBF-3154-7A7C-E03F8AF6F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566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2ABB32-A8CB-46AB-5B26-49FA60BC0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D6A0A-54B3-667A-967F-3A7DFCAAF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C2D2A-A481-D14C-8DA0-A15CA477E1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824F-FEE6-4FA6-87FA-56806D70CA3A}" type="datetimeFigureOut">
              <a:rPr lang="en-IN" smtClean="0"/>
              <a:pPr/>
              <a:t>12-01-2025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32D74-D782-3186-6A93-E760C390E0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C19FB-BF72-5E66-ABDF-43803516C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177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5400" b="1" dirty="0">
                <a:latin typeface="+mn-lt"/>
              </a:rPr>
              <a:t>PUZZLE TEST DAY SPAN </a:t>
            </a:r>
            <a:endParaRPr lang="en-US" sz="5400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44577"/>
            <a:ext cx="11987048" cy="577198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</a:t>
            </a:r>
          </a:p>
          <a:p>
            <a:pPr>
              <a:buNone/>
            </a:pPr>
            <a:r>
              <a:rPr lang="en-US" sz="1800" b="1" dirty="0"/>
              <a:t> Direction(1 to 4):-Study the following information carefully and answer the Questions given below. </a:t>
            </a:r>
          </a:p>
          <a:p>
            <a:pPr>
              <a:buNone/>
            </a:pPr>
            <a:r>
              <a:rPr lang="en-US" sz="1800" b="1" dirty="0"/>
              <a:t>Six lectures A, B, C, D, E and F are to be </a:t>
            </a:r>
            <a:r>
              <a:rPr lang="en-US" sz="1800" b="1" dirty="0" err="1"/>
              <a:t>organised</a:t>
            </a:r>
            <a:r>
              <a:rPr lang="en-US" sz="1800" b="1" dirty="0"/>
              <a:t> in a spam of seven days -- from Sunday to Saturday, only one lecture on each day in accordance with the following:</a:t>
            </a:r>
          </a:p>
          <a:p>
            <a:pPr>
              <a:buNone/>
            </a:pPr>
            <a:r>
              <a:rPr lang="en-US" sz="1800" b="1" dirty="0" err="1"/>
              <a:t>i</a:t>
            </a:r>
            <a:r>
              <a:rPr lang="en-US" sz="1800" b="1" dirty="0"/>
              <a:t>.	A should not be </a:t>
            </a:r>
            <a:r>
              <a:rPr lang="en-US" sz="1800" b="1" dirty="0" err="1"/>
              <a:t>organised</a:t>
            </a:r>
            <a:r>
              <a:rPr lang="en-US" sz="1800" b="1" dirty="0"/>
              <a:t> on Thursday.</a:t>
            </a:r>
          </a:p>
          <a:p>
            <a:pPr>
              <a:buNone/>
            </a:pPr>
            <a:r>
              <a:rPr lang="en-US" sz="1800" b="1" dirty="0"/>
              <a:t>ii.	C should be </a:t>
            </a:r>
            <a:r>
              <a:rPr lang="en-US" sz="1800" b="1" dirty="0" err="1"/>
              <a:t>organised</a:t>
            </a:r>
            <a:r>
              <a:rPr lang="en-US" sz="1800" b="1" dirty="0"/>
              <a:t> immediately after F.</a:t>
            </a:r>
          </a:p>
          <a:p>
            <a:pPr>
              <a:buNone/>
            </a:pPr>
            <a:r>
              <a:rPr lang="en-US" sz="1800" b="1" dirty="0"/>
              <a:t>iii. There should be a gap of two days between E and D.</a:t>
            </a:r>
          </a:p>
          <a:p>
            <a:pPr>
              <a:buNone/>
            </a:pPr>
            <a:r>
              <a:rPr lang="en-US" sz="1800" b="1" dirty="0"/>
              <a:t>iv. One day there will be no lecture (Friday is not that day), just before that day D will be </a:t>
            </a:r>
            <a:r>
              <a:rPr lang="en-US" sz="1800" b="1" dirty="0" err="1"/>
              <a:t>organised</a:t>
            </a:r>
            <a:r>
              <a:rPr lang="en-US" sz="1800" b="1" dirty="0"/>
              <a:t>.</a:t>
            </a:r>
          </a:p>
          <a:p>
            <a:pPr>
              <a:buNone/>
            </a:pPr>
            <a:r>
              <a:rPr lang="en-US" sz="1800" b="1" dirty="0"/>
              <a:t>v.	B should be </a:t>
            </a:r>
            <a:r>
              <a:rPr lang="en-US" sz="1800" b="1" dirty="0" err="1"/>
              <a:t>organised</a:t>
            </a:r>
            <a:r>
              <a:rPr lang="en-US" sz="1800" b="1" dirty="0"/>
              <a:t> on Tuesday and should not be followed by D.</a:t>
            </a:r>
          </a:p>
          <a:p>
            <a:pPr>
              <a:buNone/>
            </a:pPr>
            <a:r>
              <a:rPr lang="en-US" sz="18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31097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14597"/>
            <a:ext cx="11733048" cy="5801969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1.</a:t>
            </a:r>
            <a:r>
              <a:rPr lang="en-US" b="1" dirty="0"/>
              <a:t> On which day there is no lecture? </a:t>
            </a:r>
          </a:p>
          <a:p>
            <a:pPr marL="457200" indent="-457200">
              <a:buNone/>
            </a:pPr>
            <a:r>
              <a:rPr lang="en-US" b="1" dirty="0"/>
              <a:t>A. Monday       	B. Friday       	C. Sunday       	D. Cannot be determined       E. None of these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</a:t>
            </a:r>
            <a:r>
              <a:rPr lang="en-US" b="1" dirty="0"/>
              <a:t> 2. How many lectures are </a:t>
            </a:r>
            <a:r>
              <a:rPr lang="en-US" b="1" dirty="0" err="1"/>
              <a:t>organised</a:t>
            </a:r>
            <a:r>
              <a:rPr lang="en-US" b="1" dirty="0"/>
              <a:t> between C and D?</a:t>
            </a:r>
          </a:p>
          <a:p>
            <a:pPr>
              <a:buNone/>
            </a:pPr>
            <a:r>
              <a:rPr lang="en-US" b="1" dirty="0"/>
              <a:t>A. None       	B. One       	</a:t>
            </a:r>
            <a:r>
              <a:rPr lang="en-US" b="1" dirty="0" err="1"/>
              <a:t>C.Two</a:t>
            </a:r>
            <a:r>
              <a:rPr lang="en-US" b="1" dirty="0"/>
              <a:t>       	</a:t>
            </a:r>
            <a:r>
              <a:rPr lang="en-US" b="1" dirty="0" err="1"/>
              <a:t>D.Three</a:t>
            </a:r>
            <a:r>
              <a:rPr lang="en-US" b="1" dirty="0"/>
              <a:t>       	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3. </a:t>
            </a:r>
            <a:r>
              <a:rPr lang="en-US" b="1" dirty="0"/>
              <a:t>Which day will the lecture F be </a:t>
            </a:r>
            <a:r>
              <a:rPr lang="en-US" b="1" dirty="0" err="1"/>
              <a:t>organised</a:t>
            </a:r>
            <a:r>
              <a:rPr lang="en-US" b="1" dirty="0"/>
              <a:t>?</a:t>
            </a:r>
          </a:p>
          <a:p>
            <a:pPr>
              <a:buNone/>
            </a:pPr>
            <a:r>
              <a:rPr lang="en-US" b="1" dirty="0"/>
              <a:t>A. Thursday       B. Friday       	C. Saturday       D. Sunday      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4 </a:t>
            </a:r>
            <a:r>
              <a:rPr lang="en-US" b="1" dirty="0"/>
              <a:t>Which of the following is the last lecture in the series?</a:t>
            </a:r>
          </a:p>
          <a:p>
            <a:pPr>
              <a:buNone/>
            </a:pPr>
            <a:r>
              <a:rPr lang="en-US" b="1" dirty="0"/>
              <a:t>A. A       	B. B       	C. C       	D. Cannot be determined      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5. </a:t>
            </a:r>
            <a:r>
              <a:rPr lang="en-US" b="1" dirty="0"/>
              <a:t>Which of the following information is not required in finding the complete sequence of </a:t>
            </a:r>
            <a:r>
              <a:rPr lang="en-US" b="1" dirty="0" err="1"/>
              <a:t>organisation</a:t>
            </a:r>
            <a:r>
              <a:rPr lang="en-US" b="1" dirty="0"/>
              <a:t> of lectures?</a:t>
            </a:r>
          </a:p>
          <a:p>
            <a:pPr>
              <a:buNone/>
            </a:pPr>
            <a:r>
              <a:rPr lang="en-US" b="1" dirty="0"/>
              <a:t>A. 1 only       	B. 2 only       	C. 1 and 2 only       D. 5 only       E. All are required 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14597"/>
            <a:ext cx="11733048" cy="5801969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1.</a:t>
            </a:r>
            <a:r>
              <a:rPr lang="en-US" b="1" dirty="0"/>
              <a:t> On which day there is no lecture? </a:t>
            </a:r>
          </a:p>
          <a:p>
            <a:pPr marL="457200" indent="-457200">
              <a:buNone/>
            </a:pPr>
            <a:r>
              <a:rPr lang="en-US" b="1" dirty="0">
                <a:solidFill>
                  <a:srgbClr val="FF0000"/>
                </a:solidFill>
              </a:rPr>
              <a:t>A. Monday       </a:t>
            </a:r>
            <a:r>
              <a:rPr lang="en-US" b="1" dirty="0"/>
              <a:t>	B. Friday       	C. Sunday       	D. Cannot be determined       E. None of these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</a:t>
            </a:r>
            <a:r>
              <a:rPr lang="en-US" b="1" dirty="0"/>
              <a:t> 2. How many lectures are </a:t>
            </a:r>
            <a:r>
              <a:rPr lang="en-US" b="1" dirty="0" err="1"/>
              <a:t>organised</a:t>
            </a:r>
            <a:r>
              <a:rPr lang="en-US" b="1" dirty="0"/>
              <a:t> between C and D?</a:t>
            </a:r>
          </a:p>
          <a:p>
            <a:pPr>
              <a:buNone/>
            </a:pPr>
            <a:r>
              <a:rPr lang="en-US" b="1" dirty="0"/>
              <a:t>A. None       	B. One       	</a:t>
            </a:r>
            <a:r>
              <a:rPr lang="en-US" b="1" dirty="0" err="1"/>
              <a:t>C.Two</a:t>
            </a:r>
            <a:r>
              <a:rPr lang="en-US" b="1" dirty="0"/>
              <a:t>       	</a:t>
            </a:r>
            <a:r>
              <a:rPr lang="en-US" b="1" dirty="0" err="1">
                <a:solidFill>
                  <a:srgbClr val="FF0000"/>
                </a:solidFill>
              </a:rPr>
              <a:t>D.Three</a:t>
            </a:r>
            <a:r>
              <a:rPr lang="en-US" b="1" dirty="0">
                <a:solidFill>
                  <a:srgbClr val="FF0000"/>
                </a:solidFill>
              </a:rPr>
              <a:t>       </a:t>
            </a:r>
            <a:r>
              <a:rPr lang="en-US" b="1" dirty="0"/>
              <a:t>	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3. </a:t>
            </a:r>
            <a:r>
              <a:rPr lang="en-US" b="1" dirty="0"/>
              <a:t>Which day will the lecture F be </a:t>
            </a:r>
            <a:r>
              <a:rPr lang="en-US" b="1" dirty="0" err="1"/>
              <a:t>organised</a:t>
            </a:r>
            <a:r>
              <a:rPr lang="en-US" b="1" dirty="0"/>
              <a:t>?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A. Thursday       </a:t>
            </a:r>
            <a:r>
              <a:rPr lang="en-US" b="1" dirty="0"/>
              <a:t>B. Friday       	C. Saturday       D. Sunday      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4 </a:t>
            </a:r>
            <a:r>
              <a:rPr lang="en-US" b="1" dirty="0"/>
              <a:t>Which of the following is the last lecture in the series?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A. A       </a:t>
            </a:r>
            <a:r>
              <a:rPr lang="en-US" b="1" dirty="0"/>
              <a:t>	B. B       	C. C       	D. Cannot be determined      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5. </a:t>
            </a:r>
            <a:r>
              <a:rPr lang="en-US" b="1" dirty="0"/>
              <a:t>Which of the following information is not required in finding the complete sequence of </a:t>
            </a:r>
            <a:r>
              <a:rPr lang="en-US" b="1" dirty="0" err="1"/>
              <a:t>organisation</a:t>
            </a:r>
            <a:r>
              <a:rPr lang="en-US" b="1" dirty="0"/>
              <a:t> of lectures?</a:t>
            </a:r>
          </a:p>
          <a:p>
            <a:pPr>
              <a:buNone/>
            </a:pPr>
            <a:r>
              <a:rPr lang="en-US" b="1" dirty="0"/>
              <a:t>A. 1 only       	B. 2 only       	C. 1 and 2 only       D. 5 only       </a:t>
            </a:r>
            <a:r>
              <a:rPr lang="en-US" b="1" dirty="0">
                <a:solidFill>
                  <a:srgbClr val="FF0000"/>
                </a:solidFill>
              </a:rPr>
              <a:t>E. All are required </a:t>
            </a: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7185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89549"/>
            <a:ext cx="11987048" cy="572701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1800" b="1" dirty="0"/>
              <a:t>	 Direction(6 to 10):- Questions :Study the following information carefully and answer the Questions given below. </a:t>
            </a:r>
          </a:p>
          <a:p>
            <a:pPr>
              <a:buNone/>
            </a:pPr>
            <a:r>
              <a:rPr lang="en-US" sz="1800" b="1" dirty="0"/>
              <a:t>	The Director of the Institute has announced that six guest lectures on different areas link Leadership, Decision Making, Quality Circles, Motivation, Assessment Centre and Group Discussion are to be </a:t>
            </a:r>
            <a:r>
              <a:rPr lang="en-US" sz="1800" b="1" dirty="0" err="1"/>
              <a:t>organised</a:t>
            </a:r>
            <a:r>
              <a:rPr lang="en-US" sz="1800" b="1" dirty="0"/>
              <a:t> only one on each day from Monday to Sunday.</a:t>
            </a:r>
          </a:p>
          <a:p>
            <a:pPr>
              <a:buNone/>
            </a:pPr>
            <a:r>
              <a:rPr lang="en-US" sz="1800" b="1" dirty="0" err="1"/>
              <a:t>i</a:t>
            </a:r>
            <a:r>
              <a:rPr lang="en-US" sz="1800" b="1" dirty="0"/>
              <a:t>.	Motivation should be </a:t>
            </a:r>
            <a:r>
              <a:rPr lang="en-US" sz="1800" b="1" dirty="0" err="1"/>
              <a:t>organised</a:t>
            </a:r>
            <a:r>
              <a:rPr lang="en-US" sz="1800" b="1" dirty="0"/>
              <a:t> immediately after Assessment Centre.</a:t>
            </a:r>
          </a:p>
          <a:p>
            <a:pPr>
              <a:buNone/>
            </a:pPr>
            <a:r>
              <a:rPr lang="en-US" sz="1800" b="1" dirty="0"/>
              <a:t>ii.	Quality Circle should be </a:t>
            </a:r>
            <a:r>
              <a:rPr lang="en-US" sz="1800" b="1" dirty="0" err="1"/>
              <a:t>organised</a:t>
            </a:r>
            <a:r>
              <a:rPr lang="en-US" sz="1800" b="1" dirty="0"/>
              <a:t> on Wednesday and should not be followed by Group Discussion.</a:t>
            </a:r>
          </a:p>
          <a:p>
            <a:pPr>
              <a:buNone/>
            </a:pPr>
            <a:r>
              <a:rPr lang="en-US" sz="1800" b="1" dirty="0"/>
              <a:t>iii. Decision Making should be </a:t>
            </a:r>
            <a:r>
              <a:rPr lang="en-US" sz="1800" b="1" dirty="0" err="1"/>
              <a:t>organised</a:t>
            </a:r>
            <a:r>
              <a:rPr lang="en-US" sz="1800" b="1" dirty="0"/>
              <a:t> on Friday and there should be a gap of two days between Leadership and Group Discussion.</a:t>
            </a:r>
          </a:p>
          <a:p>
            <a:pPr>
              <a:buNone/>
            </a:pPr>
            <a:r>
              <a:rPr lang="en-US" sz="1800" b="1" dirty="0"/>
              <a:t>iv. One day there will be no lecture (Saturday is not that day), just before that day Group Discussion will be </a:t>
            </a:r>
            <a:r>
              <a:rPr lang="en-US" sz="1800" b="1" dirty="0" err="1"/>
              <a:t>organised</a:t>
            </a:r>
            <a:r>
              <a:rPr lang="en-US" sz="1800" b="1" dirty="0"/>
              <a:t>.</a:t>
            </a:r>
          </a:p>
          <a:p>
            <a:pPr>
              <a:buNone/>
            </a:pPr>
            <a:r>
              <a:rPr lang="en-US" sz="1800" dirty="0"/>
              <a:t> </a:t>
            </a:r>
            <a:endParaRPr lang="en-US" sz="18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59567"/>
            <a:ext cx="11733048" cy="5756999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6. </a:t>
            </a:r>
            <a:r>
              <a:rPr lang="en-US" b="1" dirty="0"/>
              <a:t>Which of the pairs of lectures were </a:t>
            </a:r>
            <a:r>
              <a:rPr lang="en-US" b="1" dirty="0" err="1"/>
              <a:t>organised</a:t>
            </a:r>
            <a:r>
              <a:rPr lang="en-US" b="1" dirty="0"/>
              <a:t> on first and last day?</a:t>
            </a:r>
          </a:p>
          <a:p>
            <a:pPr marL="457200" indent="-457200">
              <a:buNone/>
            </a:pPr>
            <a:r>
              <a:rPr lang="en-US" b="1" dirty="0"/>
              <a:t>A. Quality Circle &amp; Motivation       		B. Group Discussion &amp; Quality Circle       </a:t>
            </a:r>
          </a:p>
          <a:p>
            <a:pPr marL="457200" indent="-457200">
              <a:buNone/>
            </a:pPr>
            <a:r>
              <a:rPr lang="en-US" b="1" dirty="0"/>
              <a:t>C. Group Discussion &amp; Decision Making       	D. Leadership &amp; Assessment Centre       </a:t>
            </a:r>
          </a:p>
          <a:p>
            <a:pPr marL="457200" indent="-457200">
              <a:buNone/>
            </a:pPr>
            <a:r>
              <a:rPr lang="en-US" b="1" dirty="0"/>
              <a:t>E. None of these</a:t>
            </a:r>
          </a:p>
          <a:p>
            <a:pPr>
              <a:buNone/>
            </a:pPr>
            <a:endParaRPr lang="en-US" b="1" dirty="0"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7. </a:t>
            </a:r>
            <a:r>
              <a:rPr lang="en-US" b="1" dirty="0"/>
              <a:t>How many lectures are </a:t>
            </a:r>
            <a:r>
              <a:rPr lang="en-US" b="1" dirty="0" err="1"/>
              <a:t>organised</a:t>
            </a:r>
            <a:r>
              <a:rPr lang="en-US" b="1" dirty="0"/>
              <a:t> between Motivation and Quality Circle?</a:t>
            </a:r>
          </a:p>
          <a:p>
            <a:pPr>
              <a:buNone/>
            </a:pPr>
            <a:r>
              <a:rPr lang="en-US" b="1" dirty="0"/>
              <a:t>A. One       	B. Two       	</a:t>
            </a:r>
            <a:r>
              <a:rPr lang="en-US" b="1" dirty="0" err="1"/>
              <a:t>C.Three</a:t>
            </a:r>
            <a:r>
              <a:rPr lang="en-US" b="1" dirty="0"/>
              <a:t>       	</a:t>
            </a:r>
            <a:r>
              <a:rPr lang="en-US" b="1" dirty="0" err="1"/>
              <a:t>D.Four</a:t>
            </a:r>
            <a:r>
              <a:rPr lang="en-US" b="1" dirty="0"/>
              <a:t>       	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8. </a:t>
            </a:r>
            <a:r>
              <a:rPr lang="en-US" b="1" dirty="0"/>
              <a:t>Which day will the lecture on Leadership be </a:t>
            </a:r>
            <a:r>
              <a:rPr lang="en-US" b="1" dirty="0" err="1"/>
              <a:t>organised</a:t>
            </a:r>
            <a:r>
              <a:rPr lang="en-US" b="1" dirty="0"/>
              <a:t>?</a:t>
            </a:r>
          </a:p>
          <a:p>
            <a:pPr>
              <a:buNone/>
            </a:pPr>
            <a:r>
              <a:rPr lang="en-US" b="1" dirty="0"/>
              <a:t>A. Tuesday       B. Wednesday    C. Friday       	D. Saturday      	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9. </a:t>
            </a:r>
            <a:r>
              <a:rPr lang="en-US" b="1" dirty="0"/>
              <a:t>On which day there is no lecture?</a:t>
            </a:r>
          </a:p>
          <a:p>
            <a:pPr>
              <a:buNone/>
            </a:pPr>
            <a:r>
              <a:rPr lang="en-US" b="1" dirty="0"/>
              <a:t>A. Sunday       B. Monday            C. Tuesday       	D. Wednesday      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10. </a:t>
            </a:r>
            <a:r>
              <a:rPr lang="en-US" b="1" dirty="0"/>
              <a:t>Which of the following information is not required for the above lecture arrangements?</a:t>
            </a:r>
          </a:p>
          <a:p>
            <a:pPr>
              <a:buNone/>
            </a:pPr>
            <a:r>
              <a:rPr lang="en-US" b="1" dirty="0"/>
              <a:t>A. Only 1         B. Only 2              </a:t>
            </a:r>
            <a:r>
              <a:rPr lang="en-US" b="1" dirty="0" err="1"/>
              <a:t>C.Only</a:t>
            </a:r>
            <a:r>
              <a:rPr lang="en-US" b="1" dirty="0"/>
              <a:t> 3       		</a:t>
            </a:r>
            <a:r>
              <a:rPr lang="en-US" b="1" dirty="0" err="1"/>
              <a:t>D.Only</a:t>
            </a:r>
            <a:r>
              <a:rPr lang="en-US" b="1" dirty="0"/>
              <a:t> </a:t>
            </a:r>
            <a:r>
              <a:rPr lang="en-US" dirty="0"/>
              <a:t>4       	</a:t>
            </a:r>
            <a:r>
              <a:rPr lang="en-US" b="1" dirty="0"/>
              <a:t>E. All are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599607"/>
            <a:ext cx="11733048" cy="5816959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6. </a:t>
            </a:r>
            <a:r>
              <a:rPr lang="en-US" b="1" dirty="0"/>
              <a:t>Which of the pairs of lectures were </a:t>
            </a:r>
            <a:r>
              <a:rPr lang="en-US" b="1" dirty="0" err="1"/>
              <a:t>organised</a:t>
            </a:r>
            <a:r>
              <a:rPr lang="en-US" b="1" dirty="0"/>
              <a:t> on first and last day?</a:t>
            </a:r>
          </a:p>
          <a:p>
            <a:pPr marL="457200" indent="-457200">
              <a:buNone/>
            </a:pPr>
            <a:r>
              <a:rPr lang="en-US" b="1" dirty="0"/>
              <a:t>A. Quality Circle &amp; Motivation       		B. Group Discussion &amp; Quality Circle       </a:t>
            </a:r>
          </a:p>
          <a:p>
            <a:pPr marL="457200" indent="-457200">
              <a:buNone/>
            </a:pPr>
            <a:r>
              <a:rPr lang="en-US" b="1" dirty="0"/>
              <a:t>C. Group Discussion &amp; Decision Making       	D. Leadership &amp; Assessment Centre       </a:t>
            </a:r>
          </a:p>
          <a:p>
            <a:pPr marL="457200" indent="-457200">
              <a:buNone/>
            </a:pPr>
            <a:r>
              <a:rPr lang="en-US" b="1" dirty="0">
                <a:solidFill>
                  <a:srgbClr val="FF0000"/>
                </a:solidFill>
              </a:rPr>
              <a:t>E. None of these</a:t>
            </a:r>
          </a:p>
          <a:p>
            <a:pPr>
              <a:buNone/>
            </a:pPr>
            <a:endParaRPr lang="en-US" b="1" dirty="0"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7. </a:t>
            </a:r>
            <a:r>
              <a:rPr lang="en-US" b="1" dirty="0"/>
              <a:t>How many lectures are </a:t>
            </a:r>
            <a:r>
              <a:rPr lang="en-US" b="1" dirty="0" err="1"/>
              <a:t>organised</a:t>
            </a:r>
            <a:r>
              <a:rPr lang="en-US" b="1" dirty="0"/>
              <a:t> between Motivation and Quality Circle?</a:t>
            </a:r>
          </a:p>
          <a:p>
            <a:pPr>
              <a:buNone/>
            </a:pPr>
            <a:r>
              <a:rPr lang="en-US" b="1" dirty="0"/>
              <a:t>A. One       	B. Two       	</a:t>
            </a:r>
            <a:r>
              <a:rPr lang="en-US" b="1" dirty="0" err="1">
                <a:solidFill>
                  <a:srgbClr val="FF0000"/>
                </a:solidFill>
              </a:rPr>
              <a:t>C.Three</a:t>
            </a:r>
            <a:r>
              <a:rPr lang="en-US" b="1" dirty="0">
                <a:solidFill>
                  <a:srgbClr val="FF0000"/>
                </a:solidFill>
              </a:rPr>
              <a:t>       </a:t>
            </a:r>
            <a:r>
              <a:rPr lang="en-US" b="1" dirty="0"/>
              <a:t>	</a:t>
            </a:r>
            <a:r>
              <a:rPr lang="en-US" b="1" dirty="0" err="1"/>
              <a:t>D.Four</a:t>
            </a:r>
            <a:r>
              <a:rPr lang="en-US" b="1" dirty="0"/>
              <a:t>       	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8. </a:t>
            </a:r>
            <a:r>
              <a:rPr lang="en-US" b="1" dirty="0"/>
              <a:t>Which day will the lecture on Leadership be </a:t>
            </a:r>
            <a:r>
              <a:rPr lang="en-US" b="1" dirty="0" err="1"/>
              <a:t>organised</a:t>
            </a:r>
            <a:r>
              <a:rPr lang="en-US" b="1" dirty="0"/>
              <a:t>?</a:t>
            </a:r>
          </a:p>
          <a:p>
            <a:pPr>
              <a:buNone/>
            </a:pPr>
            <a:r>
              <a:rPr lang="en-US" b="1" dirty="0"/>
              <a:t>A. Tuesday       B. Wednesday    C. Friday       	D. Saturday      	 </a:t>
            </a:r>
            <a:r>
              <a:rPr lang="en-US" b="1" dirty="0">
                <a:solidFill>
                  <a:srgbClr val="FF0000"/>
                </a:solidFill>
              </a:rPr>
              <a:t>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9. </a:t>
            </a:r>
            <a:r>
              <a:rPr lang="en-US" b="1" dirty="0"/>
              <a:t>On which day there is no lecture?</a:t>
            </a:r>
          </a:p>
          <a:p>
            <a:pPr>
              <a:buNone/>
            </a:pPr>
            <a:r>
              <a:rPr lang="en-US" b="1" dirty="0"/>
              <a:t>A. Sunday       B. Monday            </a:t>
            </a:r>
            <a:r>
              <a:rPr lang="en-US" b="1" dirty="0">
                <a:solidFill>
                  <a:srgbClr val="FF0000"/>
                </a:solidFill>
              </a:rPr>
              <a:t>C. Tuesday       </a:t>
            </a:r>
            <a:r>
              <a:rPr lang="en-US" b="1" dirty="0"/>
              <a:t>	D. Wednesday      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10. </a:t>
            </a:r>
            <a:r>
              <a:rPr lang="en-US" b="1" dirty="0"/>
              <a:t>Which of the following information is not required for the above lecture arrangements?</a:t>
            </a:r>
          </a:p>
          <a:p>
            <a:pPr>
              <a:buNone/>
            </a:pPr>
            <a:r>
              <a:rPr lang="en-US" b="1" dirty="0"/>
              <a:t>A. Only 1         B. Only 2              </a:t>
            </a:r>
            <a:r>
              <a:rPr lang="en-US" b="1" dirty="0" err="1"/>
              <a:t>C.Only</a:t>
            </a:r>
            <a:r>
              <a:rPr lang="en-US" b="1" dirty="0"/>
              <a:t> 3       		</a:t>
            </a:r>
            <a:r>
              <a:rPr lang="en-US" b="1" dirty="0" err="1"/>
              <a:t>D.Only</a:t>
            </a:r>
            <a:r>
              <a:rPr lang="en-US" b="1" dirty="0"/>
              <a:t> </a:t>
            </a:r>
            <a:r>
              <a:rPr lang="en-US" dirty="0"/>
              <a:t>4       	</a:t>
            </a:r>
            <a:r>
              <a:rPr lang="en-US" b="1" dirty="0">
                <a:solidFill>
                  <a:srgbClr val="FF0000"/>
                </a:solidFill>
              </a:rPr>
              <a:t>E. All are required</a:t>
            </a:r>
          </a:p>
        </p:txBody>
      </p:sp>
    </p:spTree>
    <p:extLst>
      <p:ext uri="{BB962C8B-B14F-4D97-AF65-F5344CB8AC3E}">
        <p14:creationId xmlns:p14="http://schemas.microsoft.com/office/powerpoint/2010/main" val="4066996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59567"/>
            <a:ext cx="11733048" cy="57569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1800" b="1" dirty="0"/>
              <a:t>Questions (11 to 15):Study the following information carefully and answer the Questions given below. </a:t>
            </a:r>
          </a:p>
          <a:p>
            <a:pPr>
              <a:buNone/>
            </a:pPr>
            <a:r>
              <a:rPr lang="en-US" sz="1800" b="1" dirty="0"/>
              <a:t>A training college has to conduct a refresher course for teachers of seven different subjects -- Mechanics, Psychology, Philosophy, Sociology, Economics, Science and Engineering from 22nd July to 29th July.</a:t>
            </a:r>
          </a:p>
          <a:p>
            <a:pPr>
              <a:buNone/>
            </a:pPr>
            <a:r>
              <a:rPr lang="en-US" sz="1800" b="1" dirty="0" err="1"/>
              <a:t>i</a:t>
            </a:r>
            <a:r>
              <a:rPr lang="en-US" sz="1800" b="1" dirty="0"/>
              <a:t>.	Course should start with Psychology.</a:t>
            </a:r>
          </a:p>
          <a:p>
            <a:pPr>
              <a:buNone/>
            </a:pPr>
            <a:r>
              <a:rPr lang="en-US" sz="1800" b="1" dirty="0"/>
              <a:t>ii.	23rd July, being Sunday, should be holiday.</a:t>
            </a:r>
          </a:p>
          <a:p>
            <a:pPr>
              <a:buNone/>
            </a:pPr>
            <a:r>
              <a:rPr lang="en-US" sz="1800" b="1" dirty="0"/>
              <a:t>iii. Science subject should be on the previous day of the Engineering subjects.</a:t>
            </a:r>
          </a:p>
          <a:p>
            <a:pPr>
              <a:buNone/>
            </a:pPr>
            <a:r>
              <a:rPr lang="en-US" sz="1800" b="1" dirty="0"/>
              <a:t>iv. Course should end with Mechanics subject.</a:t>
            </a:r>
          </a:p>
          <a:p>
            <a:pPr>
              <a:buNone/>
            </a:pPr>
            <a:r>
              <a:rPr lang="en-US" sz="1800" b="1" dirty="0"/>
              <a:t>v.	Philosophy should be immediately after the holiday.</a:t>
            </a:r>
          </a:p>
          <a:p>
            <a:pPr>
              <a:buNone/>
            </a:pPr>
            <a:r>
              <a:rPr lang="en-US" sz="1800" b="1" dirty="0"/>
              <a:t>vi. There should be a gap of one day between Economics and Engineering.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599607"/>
            <a:ext cx="11733048" cy="5816959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11. </a:t>
            </a:r>
            <a:r>
              <a:rPr lang="en-US" b="1" dirty="0"/>
              <a:t>The</a:t>
            </a:r>
            <a:r>
              <a:rPr lang="en-US" dirty="0"/>
              <a:t> </a:t>
            </a:r>
            <a:r>
              <a:rPr lang="en-US" b="1" dirty="0"/>
              <a:t>refresher course will start with which one of the following subjects?</a:t>
            </a:r>
          </a:p>
          <a:p>
            <a:pPr marL="457200" indent="-457200">
              <a:buNone/>
            </a:pPr>
            <a:r>
              <a:rPr lang="en-US" b="1" dirty="0"/>
              <a:t>A. Psychology       	B. Mechanics	    C. Philosophy       D. Economics       E. None of these</a:t>
            </a:r>
          </a:p>
          <a:p>
            <a:pPr>
              <a:buNone/>
            </a:pPr>
            <a:endParaRPr lang="en-US" b="1" dirty="0"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12. </a:t>
            </a:r>
            <a:r>
              <a:rPr lang="en-US" b="1" dirty="0"/>
              <a:t>Which subject will be on Tuesday?</a:t>
            </a:r>
          </a:p>
          <a:p>
            <a:pPr>
              <a:buNone/>
            </a:pPr>
            <a:r>
              <a:rPr lang="en-US" b="1" dirty="0"/>
              <a:t>A. Mechanics	B. Engineering       C. Economics       D. Psychology      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13. </a:t>
            </a:r>
            <a:r>
              <a:rPr lang="en-US" b="1" dirty="0"/>
              <a:t>Which subject precedes Mechanics?</a:t>
            </a:r>
          </a:p>
          <a:p>
            <a:pPr>
              <a:buNone/>
            </a:pPr>
            <a:r>
              <a:rPr lang="en-US" b="1" dirty="0"/>
              <a:t>A. Economics   B. Engineering       C. Philosophy       D. Psychology      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14. </a:t>
            </a:r>
            <a:r>
              <a:rPr lang="en-US" b="1" dirty="0"/>
              <a:t>How many days' gap is there between Science and Philosophy?</a:t>
            </a:r>
          </a:p>
          <a:p>
            <a:pPr>
              <a:buNone/>
            </a:pPr>
            <a:r>
              <a:rPr lang="en-US" b="1" dirty="0"/>
              <a:t>A. One       	B. Two       	     C. Three       	         D. No gap       	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15. </a:t>
            </a:r>
            <a:r>
              <a:rPr lang="en-US" b="1" dirty="0"/>
              <a:t>Which subject is followed by Science?</a:t>
            </a:r>
          </a:p>
          <a:p>
            <a:pPr>
              <a:buNone/>
            </a:pPr>
            <a:r>
              <a:rPr lang="en-US" b="1" dirty="0"/>
              <a:t>A. Engineering       B. Psychology       C. Philosophy       D. Economics       E. None of these</a:t>
            </a:r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599607"/>
            <a:ext cx="11733048" cy="5816959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11. </a:t>
            </a:r>
            <a:r>
              <a:rPr lang="en-US" b="1" dirty="0"/>
              <a:t>The</a:t>
            </a:r>
            <a:r>
              <a:rPr lang="en-US" dirty="0"/>
              <a:t> </a:t>
            </a:r>
            <a:r>
              <a:rPr lang="en-US" b="1" dirty="0"/>
              <a:t>refresher course will start with which one of the following subjects?</a:t>
            </a:r>
          </a:p>
          <a:p>
            <a:pPr marL="457200" indent="-457200">
              <a:buNone/>
            </a:pPr>
            <a:r>
              <a:rPr lang="en-US" b="1" dirty="0">
                <a:solidFill>
                  <a:srgbClr val="FF0000"/>
                </a:solidFill>
              </a:rPr>
              <a:t>A. Psychology       </a:t>
            </a:r>
            <a:r>
              <a:rPr lang="en-US" b="1" dirty="0"/>
              <a:t>	B. Mechanics	    C. Philosophy       D. Economics       E. None of these</a:t>
            </a:r>
          </a:p>
          <a:p>
            <a:pPr>
              <a:buNone/>
            </a:pPr>
            <a:endParaRPr lang="en-US" b="1" dirty="0"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12. </a:t>
            </a:r>
            <a:r>
              <a:rPr lang="en-US" b="1" dirty="0"/>
              <a:t>Which subject will be on Tuesday?</a:t>
            </a:r>
          </a:p>
          <a:p>
            <a:pPr>
              <a:buNone/>
            </a:pPr>
            <a:r>
              <a:rPr lang="en-US" b="1" dirty="0"/>
              <a:t>A. Mechanics	B. Engineering       </a:t>
            </a:r>
            <a:r>
              <a:rPr lang="en-US" b="1" dirty="0">
                <a:solidFill>
                  <a:srgbClr val="FF0000"/>
                </a:solidFill>
              </a:rPr>
              <a:t>C. Economics       </a:t>
            </a:r>
            <a:r>
              <a:rPr lang="en-US" b="1" dirty="0"/>
              <a:t>D. Psychology      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13. </a:t>
            </a:r>
            <a:r>
              <a:rPr lang="en-US" b="1" dirty="0"/>
              <a:t>Which subject precedes Mechanics?</a:t>
            </a:r>
          </a:p>
          <a:p>
            <a:pPr>
              <a:buNone/>
            </a:pPr>
            <a:r>
              <a:rPr lang="en-US" b="1" dirty="0"/>
              <a:t>A. Economics   B. Engineering       C. Philosophy       D. Psychology      </a:t>
            </a:r>
            <a:r>
              <a:rPr lang="en-US" b="1" dirty="0">
                <a:solidFill>
                  <a:srgbClr val="FF0000"/>
                </a:solidFill>
              </a:rPr>
              <a:t> E. None of these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14. </a:t>
            </a:r>
            <a:r>
              <a:rPr lang="en-US" b="1" dirty="0"/>
              <a:t>How many days' gap is there between Science and Philosophy?</a:t>
            </a:r>
          </a:p>
          <a:p>
            <a:pPr>
              <a:buNone/>
            </a:pPr>
            <a:r>
              <a:rPr lang="en-US" b="1" dirty="0"/>
              <a:t>A. One       	</a:t>
            </a:r>
            <a:r>
              <a:rPr lang="en-US" b="1" dirty="0">
                <a:solidFill>
                  <a:srgbClr val="FF0000"/>
                </a:solidFill>
              </a:rPr>
              <a:t>B. Two</a:t>
            </a:r>
            <a:r>
              <a:rPr lang="en-US" b="1" dirty="0"/>
              <a:t>       	     C. Three       	         D. No gap       	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15. </a:t>
            </a:r>
            <a:r>
              <a:rPr lang="en-US" b="1" dirty="0"/>
              <a:t>Which subject is followed by Science?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A. Engineering </a:t>
            </a:r>
            <a:r>
              <a:rPr lang="en-US" b="1" dirty="0"/>
              <a:t>      B. Psychology       C. Philosophy       D. Economics       E. None of these</a:t>
            </a:r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5101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89549"/>
            <a:ext cx="11733048" cy="572701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b="1" dirty="0"/>
              <a:t>Questions (16 to 18):Study the following information carefully and answer the Questions given below. </a:t>
            </a:r>
          </a:p>
          <a:p>
            <a:pPr>
              <a:buNone/>
            </a:pPr>
            <a:r>
              <a:rPr lang="en-US" b="1" dirty="0"/>
              <a:t>Five plays A, B, C, D and E are to be staged from Monday to Friday of a week. On a each day, only one play will be staged. D or E should not be either the first or last to be staged. E should be immediately followed by C. B should be staged immediately after D. One play is staged between A and B.</a:t>
            </a:r>
          </a:p>
          <a:p>
            <a:pPr>
              <a:buNone/>
            </a:pPr>
            <a:r>
              <a:rPr lang="en-US" dirty="0"/>
              <a:t>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14597"/>
            <a:ext cx="11733048" cy="580196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16. </a:t>
            </a:r>
            <a:r>
              <a:rPr lang="en-US" b="1" dirty="0"/>
              <a:t>Which is the first play to be staged?</a:t>
            </a:r>
          </a:p>
          <a:p>
            <a:pPr marL="457200" indent="-457200">
              <a:buAutoNum type="alphaUcPeriod"/>
            </a:pPr>
            <a:r>
              <a:rPr lang="en-US" b="1" dirty="0"/>
              <a:t>A       	B. B       	C. C       	D. Cannot be determined       </a:t>
            </a:r>
          </a:p>
          <a:p>
            <a:pPr marL="457200" indent="-457200">
              <a:buNone/>
            </a:pPr>
            <a:r>
              <a:rPr lang="en-US" b="1" dirty="0"/>
              <a:t>E. None of these</a:t>
            </a:r>
          </a:p>
          <a:p>
            <a:pPr>
              <a:buNone/>
            </a:pPr>
            <a:endParaRPr lang="en-US" b="1" dirty="0"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17. </a:t>
            </a:r>
            <a:r>
              <a:rPr lang="en-US" b="1" dirty="0"/>
              <a:t>Which of the following is the correct sequence of staging all the plays?</a:t>
            </a:r>
          </a:p>
          <a:p>
            <a:pPr>
              <a:buNone/>
            </a:pPr>
            <a:r>
              <a:rPr lang="en-US" b="1" dirty="0"/>
              <a:t>A. A D B C E       B. A E C D B       C. B D A E C       D. D B E C A       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18. </a:t>
            </a:r>
            <a:r>
              <a:rPr lang="en-US" b="1" dirty="0"/>
              <a:t>Which play was staged on Wednesday?</a:t>
            </a:r>
          </a:p>
          <a:p>
            <a:pPr>
              <a:buNone/>
            </a:pPr>
            <a:r>
              <a:rPr lang="en-US" b="1" dirty="0"/>
              <a:t>A. A		B. B		C. Either B or C		D. Cannot be determined</a:t>
            </a:r>
          </a:p>
          <a:p>
            <a:pPr>
              <a:buNone/>
            </a:pPr>
            <a:r>
              <a:rPr lang="en-US" b="1" dirty="0"/>
              <a:t>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 </a:t>
            </a:r>
          </a:p>
          <a:p>
            <a:pPr marL="457200" indent="-457200"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44577"/>
            <a:ext cx="11733048" cy="5771989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16. </a:t>
            </a:r>
            <a:r>
              <a:rPr lang="en-US" b="1" dirty="0"/>
              <a:t>Which is the first play to be staged?</a:t>
            </a:r>
          </a:p>
          <a:p>
            <a:pPr marL="457200" indent="-457200">
              <a:buAutoNum type="alphaUcPeriod"/>
            </a:pPr>
            <a:r>
              <a:rPr lang="en-US" b="1" dirty="0"/>
              <a:t>A       	B. B       	</a:t>
            </a:r>
            <a:r>
              <a:rPr lang="en-US" b="1" dirty="0">
                <a:solidFill>
                  <a:srgbClr val="FF0000"/>
                </a:solidFill>
              </a:rPr>
              <a:t>C. C       </a:t>
            </a:r>
            <a:r>
              <a:rPr lang="en-US" b="1" dirty="0"/>
              <a:t>	D. Cannot be determined       </a:t>
            </a:r>
          </a:p>
          <a:p>
            <a:pPr marL="457200" indent="-457200">
              <a:buNone/>
            </a:pPr>
            <a:r>
              <a:rPr lang="en-US" b="1" dirty="0"/>
              <a:t>E. None of these</a:t>
            </a:r>
          </a:p>
          <a:p>
            <a:pPr>
              <a:buNone/>
            </a:pPr>
            <a:endParaRPr lang="en-US" b="1" dirty="0">
              <a:latin typeface="Arial Black" pitchFamily="34" charset="0"/>
            </a:endParaRP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17. </a:t>
            </a:r>
            <a:r>
              <a:rPr lang="en-US" b="1" dirty="0"/>
              <a:t>Which of the following is the correct sequence of staging all the plays?</a:t>
            </a:r>
          </a:p>
          <a:p>
            <a:pPr marL="457200" indent="-457200">
              <a:buAutoNum type="alphaUcPeriod"/>
            </a:pPr>
            <a:r>
              <a:rPr lang="en-US" b="1" dirty="0"/>
              <a:t>A D B C E       B. A E C D B       C. B D A E C       D. D B E C A     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18. </a:t>
            </a:r>
            <a:r>
              <a:rPr lang="en-US" b="1" dirty="0"/>
              <a:t>Which play was staged on Wednesday?</a:t>
            </a:r>
          </a:p>
          <a:p>
            <a:pPr>
              <a:buNone/>
            </a:pPr>
            <a:r>
              <a:rPr lang="en-US" b="1" dirty="0"/>
              <a:t>A. A		B. B		C. Either B or C		</a:t>
            </a:r>
            <a:r>
              <a:rPr lang="en-US" b="1" dirty="0">
                <a:solidFill>
                  <a:srgbClr val="FF0000"/>
                </a:solidFill>
              </a:rPr>
              <a:t>D. Cannot be determined</a:t>
            </a:r>
          </a:p>
          <a:p>
            <a:pPr>
              <a:buNone/>
            </a:pPr>
            <a:r>
              <a:rPr lang="en-US" b="1" dirty="0"/>
              <a:t>E.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 </a:t>
            </a:r>
          </a:p>
          <a:p>
            <a:pPr marL="457200" indent="-45720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1748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14597"/>
            <a:ext cx="11733048" cy="580196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1800" b="1" dirty="0"/>
              <a:t>Direction(19 to 23):- Study the following information carefully and answer the Questions given below.</a:t>
            </a:r>
          </a:p>
          <a:p>
            <a:pPr>
              <a:buNone/>
            </a:pPr>
            <a:r>
              <a:rPr lang="en-US" sz="1800" b="1" dirty="0"/>
              <a:t>Seven specialist doctors B, M, K, P, D, F and H visit a polyclinic on four days – Tuesday, Wednesday, Friday and Saturday – in a week. At least one doctor but not more than two doctors visit the polyclinic on each of these days. Each of them is a specialist in different </a:t>
            </a:r>
            <a:r>
              <a:rPr lang="en-US" sz="1800" b="1" dirty="0" err="1"/>
              <a:t>ﬁelds</a:t>
            </a:r>
            <a:r>
              <a:rPr lang="en-US" sz="1800" b="1" dirty="0"/>
              <a:t> – ENT, </a:t>
            </a:r>
            <a:r>
              <a:rPr lang="en-US" sz="1800" b="1" dirty="0" err="1"/>
              <a:t>Orthopaedics</a:t>
            </a:r>
            <a:r>
              <a:rPr lang="en-US" sz="1800" b="1" dirty="0"/>
              <a:t>, </a:t>
            </a:r>
            <a:r>
              <a:rPr lang="en-US" sz="1800" b="1" dirty="0" err="1"/>
              <a:t>Paediatrics</a:t>
            </a:r>
            <a:r>
              <a:rPr lang="en-US" sz="1800" b="1" dirty="0"/>
              <a:t>, Neurology, Ophthalmology, Radiology and Oncology. </a:t>
            </a:r>
          </a:p>
          <a:p>
            <a:pPr>
              <a:buNone/>
            </a:pPr>
            <a:r>
              <a:rPr lang="en-US" sz="1800" b="1" dirty="0" err="1"/>
              <a:t>i</a:t>
            </a:r>
            <a:r>
              <a:rPr lang="en-US" sz="1800" b="1" dirty="0"/>
              <a:t>.	P visits on Friday with Radiologist. </a:t>
            </a:r>
          </a:p>
          <a:p>
            <a:pPr>
              <a:buNone/>
            </a:pPr>
            <a:r>
              <a:rPr lang="en-US" sz="1800" b="1" dirty="0"/>
              <a:t>ii.	The </a:t>
            </a:r>
            <a:r>
              <a:rPr lang="en-US" sz="1800" b="1" dirty="0" err="1"/>
              <a:t>Paediatrician</a:t>
            </a:r>
            <a:r>
              <a:rPr lang="en-US" sz="1800" b="1" dirty="0"/>
              <a:t> does not visit on Saturday nor with D and H. </a:t>
            </a:r>
          </a:p>
          <a:p>
            <a:pPr>
              <a:buNone/>
            </a:pPr>
            <a:r>
              <a:rPr lang="en-US" sz="1800" b="1" dirty="0"/>
              <a:t>iii. The Oncologist F visits alone on Tuesday. </a:t>
            </a:r>
          </a:p>
          <a:p>
            <a:pPr>
              <a:buNone/>
            </a:pPr>
            <a:r>
              <a:rPr lang="en-US" sz="1800" b="1" dirty="0"/>
              <a:t>iv. M Visits on Wednesday and he is not </a:t>
            </a:r>
            <a:r>
              <a:rPr lang="en-US" sz="1800" b="1" dirty="0" err="1"/>
              <a:t>Paediatrician</a:t>
            </a:r>
            <a:r>
              <a:rPr lang="en-US" sz="1800" b="1" dirty="0"/>
              <a:t>. </a:t>
            </a:r>
          </a:p>
          <a:p>
            <a:pPr>
              <a:buNone/>
            </a:pPr>
            <a:r>
              <a:rPr lang="en-US" sz="1800" b="1" dirty="0"/>
              <a:t>v.	K visits on Wednesday. H is not Radiologist. </a:t>
            </a:r>
          </a:p>
          <a:p>
            <a:pPr>
              <a:buNone/>
            </a:pPr>
            <a:r>
              <a:rPr lang="en-US" sz="1800" b="1" dirty="0"/>
              <a:t>vi. The </a:t>
            </a:r>
            <a:r>
              <a:rPr lang="en-US" sz="1800" b="1" dirty="0" err="1"/>
              <a:t>Paediatrician</a:t>
            </a:r>
            <a:r>
              <a:rPr lang="en-US" sz="1800" b="1" dirty="0"/>
              <a:t> visits with the ENT specialist. </a:t>
            </a:r>
          </a:p>
          <a:p>
            <a:pPr>
              <a:buNone/>
            </a:pPr>
            <a:r>
              <a:rPr lang="en-US" sz="1800" b="1" dirty="0"/>
              <a:t>vii. The Neurologist visits on Friday. </a:t>
            </a:r>
          </a:p>
          <a:p>
            <a:pPr>
              <a:buNone/>
            </a:pPr>
            <a:r>
              <a:rPr lang="en-US" sz="1800" b="1" dirty="0"/>
              <a:t>viii. B is neither </a:t>
            </a:r>
            <a:r>
              <a:rPr lang="en-US" sz="1800" b="1" dirty="0" err="1"/>
              <a:t>Orthopaedicianor</a:t>
            </a:r>
            <a:r>
              <a:rPr lang="en-US" sz="1800" b="1" dirty="0"/>
              <a:t> Radiologist </a:t>
            </a:r>
          </a:p>
          <a:p>
            <a:pPr>
              <a:buNone/>
            </a:pPr>
            <a:r>
              <a:rPr lang="en-US" sz="1800" b="1" dirty="0"/>
              <a:t> 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29587"/>
            <a:ext cx="11733048" cy="5786979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2900" b="1" dirty="0"/>
              <a:t>Q 19. What is the </a:t>
            </a:r>
            <a:r>
              <a:rPr lang="en-US" sz="2900" b="1" dirty="0" err="1"/>
              <a:t>speciality</a:t>
            </a:r>
            <a:r>
              <a:rPr lang="en-US" sz="2900" b="1" dirty="0"/>
              <a:t> of B? </a:t>
            </a:r>
          </a:p>
          <a:p>
            <a:pPr>
              <a:buNone/>
            </a:pPr>
            <a:r>
              <a:rPr lang="en-US" sz="2900" b="1" dirty="0"/>
              <a:t>A. ophthalmologist	               B.ENT		C. </a:t>
            </a:r>
            <a:r>
              <a:rPr lang="en-US" sz="2900" b="1" dirty="0" err="1"/>
              <a:t>Paediatrics</a:t>
            </a:r>
            <a:r>
              <a:rPr lang="en-US" sz="2900" b="1" dirty="0"/>
              <a:t>		D. Data inadequate	</a:t>
            </a:r>
          </a:p>
          <a:p>
            <a:pPr>
              <a:buNone/>
            </a:pPr>
            <a:r>
              <a:rPr lang="en-US" sz="2900" b="1" dirty="0"/>
              <a:t>E. None of these</a:t>
            </a:r>
          </a:p>
          <a:p>
            <a:pPr>
              <a:buNone/>
            </a:pPr>
            <a:endParaRPr lang="en-US" sz="2900" b="1" dirty="0"/>
          </a:p>
          <a:p>
            <a:pPr>
              <a:buNone/>
            </a:pPr>
            <a:r>
              <a:rPr lang="en-US" sz="2900" b="1" dirty="0"/>
              <a:t>Q 20. On which day of the week does D visit?</a:t>
            </a:r>
          </a:p>
          <a:p>
            <a:pPr>
              <a:buNone/>
            </a:pPr>
            <a:r>
              <a:rPr lang="en-US" sz="2900" b="1" dirty="0"/>
              <a:t>A. Wednesday	B. Saturday	C. Wednesday or Saturday	D. Friday		E. None of these</a:t>
            </a:r>
          </a:p>
          <a:p>
            <a:pPr>
              <a:buNone/>
            </a:pPr>
            <a:r>
              <a:rPr lang="en-US" sz="2900" b="1" dirty="0"/>
              <a:t> </a:t>
            </a:r>
          </a:p>
          <a:p>
            <a:pPr>
              <a:buNone/>
            </a:pPr>
            <a:r>
              <a:rPr lang="en-US" sz="2900" b="1" dirty="0"/>
              <a:t>Q 21. Who among them visits the polyclinic along with B? </a:t>
            </a:r>
          </a:p>
          <a:p>
            <a:pPr>
              <a:buNone/>
            </a:pPr>
            <a:r>
              <a:rPr lang="en-US" sz="2900" b="1" dirty="0"/>
              <a:t>A.	None 		B. H 		C. D 			</a:t>
            </a:r>
            <a:r>
              <a:rPr lang="en-US" sz="2900" b="1" dirty="0" err="1"/>
              <a:t>D</a:t>
            </a:r>
            <a:r>
              <a:rPr lang="en-US" sz="2900" b="1" dirty="0"/>
              <a:t>. P 		E. Either H or P</a:t>
            </a:r>
          </a:p>
          <a:p>
            <a:pPr>
              <a:buNone/>
            </a:pPr>
            <a:r>
              <a:rPr lang="en-US" sz="2900" b="1" dirty="0"/>
              <a:t> </a:t>
            </a:r>
          </a:p>
          <a:p>
            <a:pPr>
              <a:buNone/>
            </a:pPr>
            <a:r>
              <a:rPr lang="en-US" sz="2900" b="1" dirty="0"/>
              <a:t>Q 22. On which of the following days do the specialists in </a:t>
            </a:r>
            <a:r>
              <a:rPr lang="en-US" sz="2900" b="1" dirty="0" err="1"/>
              <a:t>Orthopaedics</a:t>
            </a:r>
            <a:r>
              <a:rPr lang="en-US" sz="2900" b="1" dirty="0"/>
              <a:t> and Ophthalmology visit?</a:t>
            </a:r>
          </a:p>
          <a:p>
            <a:pPr marL="457200" indent="-457200">
              <a:buAutoNum type="alphaUcPeriod"/>
            </a:pPr>
            <a:r>
              <a:rPr lang="en-US" sz="2900" b="1" dirty="0"/>
              <a:t>Wednesday	B. Friday		C. Saturday	D. Data inadequate		</a:t>
            </a:r>
          </a:p>
          <a:p>
            <a:pPr marL="0" indent="0">
              <a:buNone/>
            </a:pPr>
            <a:r>
              <a:rPr lang="en-US" sz="2900" b="1" dirty="0" err="1"/>
              <a:t>E.None</a:t>
            </a:r>
            <a:r>
              <a:rPr lang="en-US" sz="2900" b="1" dirty="0"/>
              <a:t> of these</a:t>
            </a:r>
          </a:p>
          <a:p>
            <a:pPr>
              <a:buNone/>
            </a:pPr>
            <a:r>
              <a:rPr lang="en-US" sz="2900" b="1" dirty="0"/>
              <a:t> </a:t>
            </a:r>
          </a:p>
          <a:p>
            <a:pPr>
              <a:buNone/>
            </a:pPr>
            <a:r>
              <a:rPr lang="en-US" sz="2900" b="1" dirty="0"/>
              <a:t>Q 23. What is P’s profession?</a:t>
            </a:r>
          </a:p>
          <a:p>
            <a:pPr>
              <a:buNone/>
            </a:pPr>
            <a:r>
              <a:rPr lang="en-US" sz="2900" b="1" dirty="0"/>
              <a:t>A. </a:t>
            </a:r>
            <a:r>
              <a:rPr lang="en-US" sz="2900" b="1" dirty="0" err="1"/>
              <a:t>Paediatrics</a:t>
            </a:r>
            <a:r>
              <a:rPr lang="en-US" sz="2900" b="1" dirty="0"/>
              <a:t>	B.ENT		C. Ophthalmologist		D. Data inadequate</a:t>
            </a:r>
          </a:p>
          <a:p>
            <a:pPr>
              <a:buNone/>
            </a:pPr>
            <a:r>
              <a:rPr lang="en-US" sz="2900" b="1" dirty="0"/>
              <a:t>E.  None of these</a:t>
            </a:r>
          </a:p>
          <a:p>
            <a:pPr>
              <a:buNone/>
            </a:pPr>
            <a:r>
              <a:rPr lang="en-US" sz="2900" b="1" dirty="0"/>
              <a:t>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659567"/>
            <a:ext cx="11733048" cy="5756999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 PUZZLE TEST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3300" b="1" dirty="0"/>
              <a:t>Q 19. What is the </a:t>
            </a:r>
            <a:r>
              <a:rPr lang="en-US" sz="3300" b="1" dirty="0" err="1"/>
              <a:t>speciality</a:t>
            </a:r>
            <a:r>
              <a:rPr lang="en-US" sz="3300" b="1" dirty="0"/>
              <a:t> of B? </a:t>
            </a:r>
          </a:p>
          <a:p>
            <a:pPr>
              <a:buNone/>
            </a:pPr>
            <a:r>
              <a:rPr lang="en-US" sz="3300" b="1" dirty="0"/>
              <a:t>A. ophthalmologist	     B. ENT		C. </a:t>
            </a:r>
            <a:r>
              <a:rPr lang="en-US" sz="3300" b="1" dirty="0" err="1"/>
              <a:t>Paediatrics</a:t>
            </a:r>
            <a:r>
              <a:rPr lang="en-US" sz="3300" b="1" dirty="0"/>
              <a:t>		</a:t>
            </a:r>
            <a:r>
              <a:rPr lang="en-US" sz="3300" b="1" dirty="0">
                <a:solidFill>
                  <a:srgbClr val="FF0000"/>
                </a:solidFill>
              </a:rPr>
              <a:t>D. Data inadequate</a:t>
            </a:r>
            <a:r>
              <a:rPr lang="en-US" sz="3300" b="1" dirty="0"/>
              <a:t>	</a:t>
            </a:r>
          </a:p>
          <a:p>
            <a:pPr>
              <a:buNone/>
            </a:pPr>
            <a:r>
              <a:rPr lang="en-US" sz="3300" b="1" dirty="0"/>
              <a:t>E. None of these</a:t>
            </a:r>
          </a:p>
          <a:p>
            <a:pPr>
              <a:buNone/>
            </a:pPr>
            <a:endParaRPr lang="en-US" sz="3300" b="1" dirty="0"/>
          </a:p>
          <a:p>
            <a:pPr>
              <a:buNone/>
            </a:pPr>
            <a:r>
              <a:rPr lang="en-US" sz="3300" b="1" dirty="0"/>
              <a:t>Q 20. On which day of the week does D visit?</a:t>
            </a:r>
          </a:p>
          <a:p>
            <a:pPr>
              <a:buNone/>
            </a:pPr>
            <a:r>
              <a:rPr lang="en-US" sz="3300" b="1" dirty="0"/>
              <a:t>A. Wednesday	B. Saturday	C. Wednesday or Saturday	           </a:t>
            </a:r>
            <a:r>
              <a:rPr lang="en-US" sz="3300" b="1" dirty="0">
                <a:solidFill>
                  <a:srgbClr val="FF0000"/>
                </a:solidFill>
              </a:rPr>
              <a:t>D. Friday</a:t>
            </a:r>
            <a:r>
              <a:rPr lang="en-US" sz="3300" b="1" dirty="0"/>
              <a:t>		E. None of these</a:t>
            </a:r>
          </a:p>
          <a:p>
            <a:pPr>
              <a:buNone/>
            </a:pPr>
            <a:r>
              <a:rPr lang="en-US" sz="3300" b="1" dirty="0"/>
              <a:t> </a:t>
            </a:r>
          </a:p>
          <a:p>
            <a:pPr>
              <a:buNone/>
            </a:pPr>
            <a:r>
              <a:rPr lang="en-US" sz="3300" b="1" dirty="0"/>
              <a:t>Q 21. Who among them visits the polyclinic along with B? </a:t>
            </a:r>
          </a:p>
          <a:p>
            <a:pPr>
              <a:buNone/>
            </a:pPr>
            <a:r>
              <a:rPr lang="en-US" sz="3300" b="1" dirty="0"/>
              <a:t>A.	None 		</a:t>
            </a:r>
            <a:r>
              <a:rPr lang="en-US" sz="3300" b="1" dirty="0">
                <a:solidFill>
                  <a:srgbClr val="FF0000"/>
                </a:solidFill>
              </a:rPr>
              <a:t>B. H </a:t>
            </a:r>
            <a:r>
              <a:rPr lang="en-US" sz="3300" b="1" dirty="0"/>
              <a:t>		C. D 			</a:t>
            </a:r>
            <a:r>
              <a:rPr lang="en-US" sz="3300" b="1" dirty="0" err="1"/>
              <a:t>D</a:t>
            </a:r>
            <a:r>
              <a:rPr lang="en-US" sz="3300" b="1" dirty="0"/>
              <a:t>. P 		E. Either H or P</a:t>
            </a:r>
          </a:p>
          <a:p>
            <a:pPr>
              <a:buNone/>
            </a:pPr>
            <a:r>
              <a:rPr lang="en-US" sz="3300" b="1" dirty="0"/>
              <a:t> </a:t>
            </a:r>
          </a:p>
          <a:p>
            <a:pPr>
              <a:buNone/>
            </a:pPr>
            <a:r>
              <a:rPr lang="en-US" sz="3300" b="1" dirty="0"/>
              <a:t>Q 22. On which of the following days do the specialists in </a:t>
            </a:r>
            <a:r>
              <a:rPr lang="en-US" sz="3300" b="1" dirty="0" err="1"/>
              <a:t>Orthopaedics</a:t>
            </a:r>
            <a:r>
              <a:rPr lang="en-US" sz="3300" b="1" dirty="0"/>
              <a:t> and Ophthalmology visit?</a:t>
            </a:r>
          </a:p>
          <a:p>
            <a:pPr marL="457200" indent="-457200">
              <a:buAutoNum type="alphaUcPeriod"/>
            </a:pPr>
            <a:r>
              <a:rPr lang="en-US" sz="3300" b="1" dirty="0"/>
              <a:t>Wednesday	B. Friday		</a:t>
            </a:r>
            <a:r>
              <a:rPr lang="en-US" sz="3300" b="1" dirty="0">
                <a:solidFill>
                  <a:srgbClr val="FF0000"/>
                </a:solidFill>
              </a:rPr>
              <a:t>C. Saturday</a:t>
            </a:r>
            <a:r>
              <a:rPr lang="en-US" sz="3300" b="1" dirty="0"/>
              <a:t>	D. Data inadequate		</a:t>
            </a:r>
          </a:p>
          <a:p>
            <a:pPr marL="0" indent="0">
              <a:buNone/>
            </a:pPr>
            <a:r>
              <a:rPr lang="en-US" sz="3300" b="1" dirty="0"/>
              <a:t>E. None of these</a:t>
            </a:r>
          </a:p>
          <a:p>
            <a:pPr>
              <a:buNone/>
            </a:pPr>
            <a:r>
              <a:rPr lang="en-US" sz="3300" b="1" dirty="0"/>
              <a:t> </a:t>
            </a:r>
          </a:p>
          <a:p>
            <a:pPr>
              <a:buNone/>
            </a:pPr>
            <a:r>
              <a:rPr lang="en-US" sz="3300" b="1" dirty="0"/>
              <a:t>Q 23. What is P’s profession?</a:t>
            </a:r>
          </a:p>
          <a:p>
            <a:pPr>
              <a:buNone/>
            </a:pPr>
            <a:r>
              <a:rPr lang="en-US" sz="3300" b="1" dirty="0"/>
              <a:t>A. </a:t>
            </a:r>
            <a:r>
              <a:rPr lang="en-US" sz="3300" b="1" dirty="0" err="1"/>
              <a:t>Paediatrics</a:t>
            </a:r>
            <a:r>
              <a:rPr lang="en-US" sz="3300" b="1" dirty="0"/>
              <a:t>	B. ENT		C. Ophthalmologist		D. Data inadequate</a:t>
            </a:r>
          </a:p>
          <a:p>
            <a:pPr>
              <a:buNone/>
            </a:pPr>
            <a:r>
              <a:rPr lang="en-US" sz="3300" b="1" dirty="0">
                <a:solidFill>
                  <a:srgbClr val="FF0000"/>
                </a:solidFill>
              </a:rPr>
              <a:t>E. None of these</a:t>
            </a:r>
          </a:p>
          <a:p>
            <a:pPr>
              <a:buNone/>
            </a:pPr>
            <a:r>
              <a:rPr lang="en-US" b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790473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76" y="2944696"/>
            <a:ext cx="11987048" cy="5344511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8800" b="1" dirty="0">
                <a:solidFill>
                  <a:srgbClr val="FF0000"/>
                </a:solidFill>
                <a:latin typeface="Arial Black" pitchFamily="34" charset="0"/>
              </a:rPr>
              <a:t>THANK YOU</a:t>
            </a:r>
            <a:endParaRPr lang="en-US" sz="7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053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1177</TotalTime>
  <Words>2474</Words>
  <Application>Microsoft Office PowerPoint</Application>
  <PresentationFormat>Widescreen</PresentationFormat>
  <Paragraphs>205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-10 (CBSE)</dc:title>
  <dc:creator>anuj gupta</dc:creator>
  <cp:lastModifiedBy>Harshit Singla</cp:lastModifiedBy>
  <cp:revision>192</cp:revision>
  <dcterms:created xsi:type="dcterms:W3CDTF">2020-02-23T06:37:57Z</dcterms:created>
  <dcterms:modified xsi:type="dcterms:W3CDTF">2025-01-12T10:51:55Z</dcterms:modified>
</cp:coreProperties>
</file>