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6"/>
  </p:notesMasterIdLst>
  <p:sldIdLst>
    <p:sldId id="339" r:id="rId2"/>
    <p:sldId id="309" r:id="rId3"/>
    <p:sldId id="310" r:id="rId4"/>
    <p:sldId id="330" r:id="rId5"/>
    <p:sldId id="311" r:id="rId6"/>
    <p:sldId id="312" r:id="rId7"/>
    <p:sldId id="332" r:id="rId8"/>
    <p:sldId id="320" r:id="rId9"/>
    <p:sldId id="338" r:id="rId10"/>
    <p:sldId id="341" r:id="rId11"/>
    <p:sldId id="322" r:id="rId12"/>
    <p:sldId id="333" r:id="rId13"/>
    <p:sldId id="323" r:id="rId14"/>
    <p:sldId id="334" r:id="rId15"/>
    <p:sldId id="324" r:id="rId16"/>
    <p:sldId id="325" r:id="rId17"/>
    <p:sldId id="335" r:id="rId18"/>
    <p:sldId id="326" r:id="rId19"/>
    <p:sldId id="327" r:id="rId20"/>
    <p:sldId id="336" r:id="rId21"/>
    <p:sldId id="328" r:id="rId22"/>
    <p:sldId id="329" r:id="rId23"/>
    <p:sldId id="337" r:id="rId24"/>
    <p:sldId id="34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1DE4-05CC-E740-AFD3-8C82C8456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D4827-2913-C775-5399-EDC7A6F6D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6FA8E-C7C1-3251-5E02-73F245D5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A2498-66E1-42CD-22F1-4C86361C2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B86ED-9B40-8F3C-380E-02B5959D4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315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70FE3-EC27-EFD9-DC86-CDE90049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777C8-A578-3118-2351-89CF309FC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97F1A-003C-31BF-6F2B-91EF9274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570B-29D7-45AD-A121-0EF39EF04A5F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6E54-A820-80FA-7C50-A86F4FA16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F81D5-8C85-CFBC-74C4-4701BFD36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67F2-06DB-4CCC-A65B-7B45311B458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C03D17-74F8-AA41-0FB3-869555CEF8CB}"/>
              </a:ext>
            </a:extLst>
          </p:cNvPr>
          <p:cNvSpPr/>
          <p:nvPr userDrawn="1"/>
        </p:nvSpPr>
        <p:spPr>
          <a:xfrm>
            <a:off x="4005792" y="1338792"/>
            <a:ext cx="4180416" cy="41804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610792-7139-367F-320F-76D41969809E}"/>
              </a:ext>
            </a:extLst>
          </p:cNvPr>
          <p:cNvSpPr/>
          <p:nvPr userDrawn="1"/>
        </p:nvSpPr>
        <p:spPr>
          <a:xfrm rot="10800000" flipH="1">
            <a:off x="5191124" y="6439955"/>
            <a:ext cx="6997050" cy="420957"/>
          </a:xfrm>
          <a:custGeom>
            <a:avLst/>
            <a:gdLst>
              <a:gd name="connsiteX0" fmla="*/ 274746 w 6997050"/>
              <a:gd name="connsiteY0" fmla="*/ 474402 h 474402"/>
              <a:gd name="connsiteX1" fmla="*/ 5454000 w 6997050"/>
              <a:gd name="connsiteY1" fmla="*/ 474402 h 474402"/>
              <a:gd name="connsiteX2" fmla="*/ 5454000 w 6997050"/>
              <a:gd name="connsiteY2" fmla="*/ 473606 h 474402"/>
              <a:gd name="connsiteX3" fmla="*/ 6997050 w 6997050"/>
              <a:gd name="connsiteY3" fmla="*/ 473606 h 474402"/>
              <a:gd name="connsiteX4" fmla="*/ 6997050 w 6997050"/>
              <a:gd name="connsiteY4" fmla="*/ 0 h 474402"/>
              <a:gd name="connsiteX5" fmla="*/ 5454000 w 6997050"/>
              <a:gd name="connsiteY5" fmla="*/ 0 h 474402"/>
              <a:gd name="connsiteX6" fmla="*/ 5454000 w 6997050"/>
              <a:gd name="connsiteY6" fmla="*/ 797 h 474402"/>
              <a:gd name="connsiteX7" fmla="*/ 0 w 6997050"/>
              <a:gd name="connsiteY7" fmla="*/ 797 h 4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7050" h="474402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AC0373-B300-AA40-FE11-94ED596A473B}"/>
              </a:ext>
            </a:extLst>
          </p:cNvPr>
          <p:cNvSpPr/>
          <p:nvPr userDrawn="1"/>
        </p:nvSpPr>
        <p:spPr>
          <a:xfrm>
            <a:off x="1" y="6439956"/>
            <a:ext cx="5490211" cy="418044"/>
          </a:xfrm>
          <a:custGeom>
            <a:avLst/>
            <a:gdLst>
              <a:gd name="connsiteX0" fmla="*/ 0 w 5490211"/>
              <a:gd name="connsiteY0" fmla="*/ 0 h 473605"/>
              <a:gd name="connsiteX1" fmla="*/ 5490211 w 5490211"/>
              <a:gd name="connsiteY1" fmla="*/ 0 h 473605"/>
              <a:gd name="connsiteX2" fmla="*/ 5215520 w 5490211"/>
              <a:gd name="connsiteY2" fmla="*/ 473605 h 473605"/>
              <a:gd name="connsiteX3" fmla="*/ 0 w 5490211"/>
              <a:gd name="connsiteY3" fmla="*/ 473605 h 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0211" h="473605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51A439-7C7A-CEF2-560C-96435882455D}"/>
              </a:ext>
            </a:extLst>
          </p:cNvPr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gradFill flip="none" rotWithShape="1">
            <a:gsLst>
              <a:gs pos="0">
                <a:srgbClr val="FE6400"/>
              </a:gs>
              <a:gs pos="100000">
                <a:srgbClr val="108E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3A83075-6223-4FCE-698D-19AE4F82D6C5}"/>
              </a:ext>
            </a:extLst>
          </p:cNvPr>
          <p:cNvSpPr txBox="1">
            <a:spLocks/>
          </p:cNvSpPr>
          <p:nvPr userDrawn="1"/>
        </p:nvSpPr>
        <p:spPr>
          <a:xfrm>
            <a:off x="355600" y="5683515"/>
            <a:ext cx="1158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B5830-8FFE-0357-F9B1-0231F19A2D84}"/>
              </a:ext>
            </a:extLst>
          </p:cNvPr>
          <p:cNvSpPr txBox="1"/>
          <p:nvPr userDrawn="1"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Aptitude Classes by Anuj Sir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CC505-0309-2C72-30DB-1AF353E7B285}"/>
              </a:ext>
            </a:extLst>
          </p:cNvPr>
          <p:cNvSpPr txBox="1"/>
          <p:nvPr userDrawn="1"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For more tutorials Visit now www.testurprep.com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A8E5A95-1367-08A0-F73F-F188A97BC3BB}"/>
              </a:ext>
            </a:extLst>
          </p:cNvPr>
          <p:cNvSpPr/>
          <p:nvPr userDrawn="1"/>
        </p:nvSpPr>
        <p:spPr>
          <a:xfrm>
            <a:off x="158099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1B471C-8EE7-1AAC-B707-5EF8F4DEBC8D}"/>
              </a:ext>
            </a:extLst>
          </p:cNvPr>
          <p:cNvSpPr/>
          <p:nvPr userDrawn="1"/>
        </p:nvSpPr>
        <p:spPr>
          <a:xfrm>
            <a:off x="11311874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15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725C-DF7E-9EEE-EEDD-8593CF9CA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5670F-1E83-AE77-D5AB-7F2B904C1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BF156-9F76-D307-02E3-2561AF37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F0BFA-F363-96D4-1981-4C048611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F5530-D4C4-EB20-82B3-12B90979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85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FAE1-462E-A0F3-E626-42CF6D72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61FB2-727D-D1E7-356F-010E24A79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70E28-8438-965D-B046-A11C0B44B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41D35-5D55-BB01-6A7D-C8FFF978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A14DA-E2E8-093F-E73B-15903D67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7AA1F-5757-B0AF-64F2-BD6FF35F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1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61F9A-2DD4-235E-CA11-DEC6D6042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A912F-0A37-C5D6-0408-6E3EFF5E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60951-4DA9-D0C2-BF6A-52D67BDF0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45738-30EC-0243-6D2F-80BCE5B0A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43AA1-0313-A664-E68B-B2E3CA02B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C5742-2791-BE13-2FE8-66D6845E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87B5E-F150-7B60-7C57-EEE99030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4D953-6F80-67D7-C0CB-B018A209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7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E1C5-A37B-C83B-01B6-353FA0411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D6654-41A6-708E-40CB-24C21225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10E49-72D0-B30D-9F23-6F63626C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9539A-32DD-474B-1665-C52F0A12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63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2097C3-3313-C496-01E2-E88FADC0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C7B9E-077D-2F87-0F69-AC15F590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AC61E-4F0A-F9C1-B536-EE3C46F9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19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2849-ACED-5F80-3412-D92B1D49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D77E1-6C8B-BCAC-DD61-913568456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97016-4477-BE23-B2B6-329C88067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515DF-D4A2-1125-EB18-162FF368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2764C-39C6-70B8-C450-07CAC034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CA0E7-6E1C-21F4-1394-86ACF466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35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8F57-CE00-CB4A-BF82-801577B5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42C2CA-33E7-50FF-C58C-8B2B0D0A93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10DCD-967B-F746-7399-50C2B5258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68377-80AA-3C9A-60C1-D978B57E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E5A8E-27EE-D8C6-CC1A-BBD1F466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5EF0B-20C5-5CAF-3175-3F9779DE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96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0DB2-D0D1-3AFC-E047-9DD6388BB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9E814-8792-645B-549F-B7E865A51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8A76A-7EC5-5475-252D-C2C7C2F58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42DE2-F281-73F3-D8DB-404EAE71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634A8-50B6-4092-B664-5563EFD8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28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1488B-D5A8-51E7-BCA0-531AFED22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7B37A-871E-2F9D-A470-5CB1D1973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DA6EE-9A28-2E86-A34E-809F09E33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8CD24-B52B-50EC-2FC6-0EB12683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5897D-7FB9-92A3-0CDA-2EB9D1C1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07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B2B7E-32E5-43D0-8083-746FC280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F96C5-5237-D3B2-F9E4-E33587C1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CEF87-BC78-1B01-CEF5-CC23B13F2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6F704-9B7F-532E-4E7C-D29E685F8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8B133-7711-DF92-6DE9-3002BDCF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31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135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PUZZLE TEST – TABLE FORM</a:t>
            </a:r>
            <a:endParaRPr lang="en-US" sz="4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PUZZLE TEST(EXERCISE: A)</a:t>
            </a:r>
          </a:p>
          <a:p>
            <a:pPr>
              <a:buNone/>
            </a:pPr>
            <a:r>
              <a:rPr lang="en-US" b="1" dirty="0"/>
              <a:t> Questions : Read the following information carefully and answer the questions given below:</a:t>
            </a:r>
          </a:p>
          <a:p>
            <a:pPr>
              <a:buNone/>
            </a:pPr>
            <a:r>
              <a:rPr lang="en-US" b="1" dirty="0"/>
              <a:t>	Ravi and </a:t>
            </a:r>
            <a:r>
              <a:rPr lang="en-US" b="1" dirty="0" err="1"/>
              <a:t>Kunal</a:t>
            </a:r>
            <a:r>
              <a:rPr lang="en-US" b="1" dirty="0"/>
              <a:t> are good in Hockey and Volleyball. </a:t>
            </a:r>
            <a:r>
              <a:rPr lang="en-US" b="1" dirty="0" err="1"/>
              <a:t>Sachin</a:t>
            </a:r>
            <a:r>
              <a:rPr lang="en-US" b="1" dirty="0"/>
              <a:t> and Ravi are good in </a:t>
            </a:r>
            <a:r>
              <a:rPr lang="en-US" b="1" dirty="0" err="1"/>
              <a:t>Hockely</a:t>
            </a:r>
            <a:r>
              <a:rPr lang="en-US" b="1" dirty="0"/>
              <a:t> and Baseball. </a:t>
            </a:r>
            <a:r>
              <a:rPr lang="en-US" b="1" dirty="0" err="1"/>
              <a:t>Gaurav</a:t>
            </a:r>
            <a:r>
              <a:rPr lang="en-US" b="1" dirty="0"/>
              <a:t> and </a:t>
            </a:r>
            <a:r>
              <a:rPr lang="en-US" b="1" dirty="0" err="1"/>
              <a:t>Kunal</a:t>
            </a:r>
            <a:r>
              <a:rPr lang="en-US" b="1" dirty="0"/>
              <a:t> are good in Cricket and Volleyball. </a:t>
            </a:r>
            <a:r>
              <a:rPr lang="en-US" b="1" dirty="0" err="1"/>
              <a:t>Sachin</a:t>
            </a:r>
            <a:r>
              <a:rPr lang="en-US" b="1" dirty="0"/>
              <a:t>, </a:t>
            </a:r>
            <a:r>
              <a:rPr lang="en-US" b="1" dirty="0" err="1"/>
              <a:t>Gaurav</a:t>
            </a:r>
            <a:r>
              <a:rPr lang="en-US" b="1" dirty="0"/>
              <a:t> and Michael are good in Football and baseball.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 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 lvl="0">
              <a:buNone/>
            </a:pPr>
            <a:r>
              <a:rPr lang="en-US" sz="1800" b="1" dirty="0"/>
              <a:t> </a:t>
            </a:r>
          </a:p>
          <a:p>
            <a:pPr lvl="0">
              <a:buNone/>
            </a:pPr>
            <a:r>
              <a:rPr lang="en-US" b="1" dirty="0"/>
              <a:t>Q 1. Who is good in Hockey, Cricket and Volleyball?</a:t>
            </a:r>
          </a:p>
          <a:p>
            <a:pPr marL="457200" indent="-457200">
              <a:buAutoNum type="alphaLcParenBoth"/>
            </a:pPr>
            <a:r>
              <a:rPr lang="en-US" b="1" dirty="0" err="1"/>
              <a:t>Sachin</a:t>
            </a:r>
            <a:r>
              <a:rPr lang="en-US" b="1" dirty="0"/>
              <a:t>         (b) </a:t>
            </a:r>
            <a:r>
              <a:rPr lang="en-US" b="1" dirty="0" err="1"/>
              <a:t>Kunal</a:t>
            </a:r>
            <a:r>
              <a:rPr lang="en-US" b="1" dirty="0"/>
              <a:t>          (c) Ravi            (d) </a:t>
            </a:r>
            <a:r>
              <a:rPr lang="en-US" b="1" dirty="0" err="1"/>
              <a:t>Gaurav</a:t>
            </a:r>
            <a:endParaRPr lang="en-US" b="1" dirty="0"/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2. Who is good in Baseball, Cricket, Volleyball and Football?</a:t>
            </a:r>
          </a:p>
          <a:p>
            <a:pPr marL="457200" indent="-457200">
              <a:buAutoNum type="alphaLcParenBoth"/>
            </a:pPr>
            <a:r>
              <a:rPr lang="en-US" b="1" dirty="0" err="1"/>
              <a:t>Sachin</a:t>
            </a:r>
            <a:r>
              <a:rPr lang="en-US" b="1" dirty="0"/>
              <a:t>         (b) </a:t>
            </a:r>
            <a:r>
              <a:rPr lang="en-US" b="1" dirty="0" err="1"/>
              <a:t>Kunal</a:t>
            </a:r>
            <a:r>
              <a:rPr lang="en-US" b="1" dirty="0"/>
              <a:t>          (c) </a:t>
            </a:r>
            <a:r>
              <a:rPr lang="en-US" b="1" dirty="0" err="1"/>
              <a:t>Gaurav</a:t>
            </a:r>
            <a:r>
              <a:rPr lang="en-US" b="1" dirty="0"/>
              <a:t>        (d) Ravi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3. Who is good in Baseball, Volleyball and Hockey?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Sachin</a:t>
            </a:r>
            <a:r>
              <a:rPr lang="en-US" b="1" dirty="0"/>
              <a:t>         (b) </a:t>
            </a:r>
            <a:r>
              <a:rPr lang="en-US" b="1" dirty="0" err="1"/>
              <a:t>Kunal</a:t>
            </a:r>
            <a:r>
              <a:rPr lang="en-US" b="1" dirty="0"/>
              <a:t>          (c) Ravi            (d) </a:t>
            </a:r>
            <a:r>
              <a:rPr lang="en-US" b="1" dirty="0" err="1"/>
              <a:t>Gaurav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 lvl="0">
              <a:buNone/>
            </a:pPr>
            <a:r>
              <a:rPr lang="en-US" sz="1800" b="1" dirty="0"/>
              <a:t> </a:t>
            </a:r>
          </a:p>
          <a:p>
            <a:pPr lvl="0">
              <a:buNone/>
            </a:pPr>
            <a:r>
              <a:rPr lang="en-US" b="1" dirty="0"/>
              <a:t>Q 1. Who is good in Hockey, Cricket and Volleyball?</a:t>
            </a:r>
          </a:p>
          <a:p>
            <a:pPr marL="457200" indent="-457200">
              <a:buAutoNum type="alphaLcParenBoth"/>
            </a:pPr>
            <a:r>
              <a:rPr lang="en-US" b="1" dirty="0" err="1"/>
              <a:t>Sachin</a:t>
            </a:r>
            <a:r>
              <a:rPr lang="en-US" b="1" dirty="0"/>
              <a:t>        </a:t>
            </a:r>
            <a:r>
              <a:rPr lang="en-US" b="1" dirty="0">
                <a:solidFill>
                  <a:srgbClr val="FF0000"/>
                </a:solidFill>
              </a:rPr>
              <a:t> (b) </a:t>
            </a:r>
            <a:r>
              <a:rPr lang="en-US" b="1" dirty="0" err="1">
                <a:solidFill>
                  <a:srgbClr val="FF0000"/>
                </a:solidFill>
              </a:rPr>
              <a:t>Kunal</a:t>
            </a:r>
            <a:r>
              <a:rPr lang="en-US" b="1" dirty="0">
                <a:solidFill>
                  <a:srgbClr val="FF0000"/>
                </a:solidFill>
              </a:rPr>
              <a:t>  </a:t>
            </a:r>
            <a:r>
              <a:rPr lang="en-US" b="1" dirty="0"/>
              <a:t>        (c) Ravi            (d) </a:t>
            </a:r>
            <a:r>
              <a:rPr lang="en-US" b="1" dirty="0" err="1"/>
              <a:t>Gaurav</a:t>
            </a:r>
            <a:endParaRPr lang="en-US" b="1" dirty="0"/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2. Who is good in Baseball, Cricket, Volleyball and Football?</a:t>
            </a:r>
          </a:p>
          <a:p>
            <a:pPr marL="457200" indent="-457200">
              <a:buAutoNum type="alphaLcParenBoth"/>
            </a:pPr>
            <a:r>
              <a:rPr lang="en-US" b="1" dirty="0" err="1"/>
              <a:t>Sachin</a:t>
            </a:r>
            <a:r>
              <a:rPr lang="en-US" b="1" dirty="0"/>
              <a:t>         (b) </a:t>
            </a:r>
            <a:r>
              <a:rPr lang="en-US" b="1" dirty="0" err="1"/>
              <a:t>Kunal</a:t>
            </a:r>
            <a:r>
              <a:rPr lang="en-US" b="1" dirty="0"/>
              <a:t>          </a:t>
            </a:r>
            <a:r>
              <a:rPr lang="en-US" b="1" dirty="0">
                <a:solidFill>
                  <a:srgbClr val="FF0000"/>
                </a:solidFill>
              </a:rPr>
              <a:t>(c) </a:t>
            </a:r>
            <a:r>
              <a:rPr lang="en-US" b="1" dirty="0" err="1">
                <a:solidFill>
                  <a:srgbClr val="FF0000"/>
                </a:solidFill>
              </a:rPr>
              <a:t>Gaurav</a:t>
            </a:r>
            <a:r>
              <a:rPr lang="en-US" b="1" dirty="0">
                <a:solidFill>
                  <a:srgbClr val="FF0000"/>
                </a:solidFill>
              </a:rPr>
              <a:t> </a:t>
            </a:r>
            <a:r>
              <a:rPr lang="en-US" b="1" dirty="0"/>
              <a:t>       (d) Ravi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3. Who is good in Baseball, Volleyball and Hockey?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Sachin</a:t>
            </a:r>
            <a:r>
              <a:rPr lang="en-US" b="1" dirty="0"/>
              <a:t>         (b) </a:t>
            </a:r>
            <a:r>
              <a:rPr lang="en-US" b="1" dirty="0" err="1"/>
              <a:t>Kunal</a:t>
            </a:r>
            <a:r>
              <a:rPr lang="en-US" b="1" dirty="0"/>
              <a:t>         </a:t>
            </a:r>
            <a:r>
              <a:rPr lang="en-US" b="1" dirty="0">
                <a:solidFill>
                  <a:srgbClr val="FF0000"/>
                </a:solidFill>
              </a:rPr>
              <a:t> (c) Ravi</a:t>
            </a:r>
            <a:r>
              <a:rPr lang="en-US" b="1" dirty="0"/>
              <a:t>            (d) </a:t>
            </a:r>
            <a:r>
              <a:rPr lang="en-US" b="1" dirty="0" err="1"/>
              <a:t>Gaurav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44577"/>
            <a:ext cx="11733048" cy="57719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PUZZLE TEST(EXERCISE: A)</a:t>
            </a:r>
          </a:p>
          <a:p>
            <a:pPr>
              <a:buNone/>
            </a:pPr>
            <a:r>
              <a:rPr lang="en-US" b="1" dirty="0"/>
              <a:t> Questions : Study the following information carefully to answer the given questions:</a:t>
            </a:r>
          </a:p>
          <a:p>
            <a:pPr>
              <a:buNone/>
            </a:pPr>
            <a:r>
              <a:rPr lang="en-US" b="1" dirty="0"/>
              <a:t>	</a:t>
            </a:r>
            <a:r>
              <a:rPr lang="en-US" b="1" dirty="0" err="1"/>
              <a:t>Madan</a:t>
            </a:r>
            <a:r>
              <a:rPr lang="en-US" b="1" dirty="0"/>
              <a:t> and </a:t>
            </a:r>
            <a:r>
              <a:rPr lang="en-US" b="1" dirty="0" err="1"/>
              <a:t>Rohit</a:t>
            </a:r>
            <a:r>
              <a:rPr lang="en-US" b="1" dirty="0"/>
              <a:t> are in the same team of hockey. </a:t>
            </a:r>
            <a:r>
              <a:rPr lang="en-US" b="1" dirty="0" err="1"/>
              <a:t>Parth</a:t>
            </a:r>
            <a:r>
              <a:rPr lang="en-US" b="1" dirty="0"/>
              <a:t> defeated </a:t>
            </a:r>
            <a:r>
              <a:rPr lang="en-US" b="1" dirty="0" err="1"/>
              <a:t>Rohit</a:t>
            </a:r>
            <a:r>
              <a:rPr lang="en-US" b="1" dirty="0"/>
              <a:t> in Badminton but lost to </a:t>
            </a:r>
            <a:r>
              <a:rPr lang="en-US" b="1" dirty="0" err="1"/>
              <a:t>Sachin</a:t>
            </a:r>
            <a:r>
              <a:rPr lang="en-US" b="1" dirty="0"/>
              <a:t> in Tennis. </a:t>
            </a:r>
            <a:r>
              <a:rPr lang="en-US" b="1" dirty="0" err="1"/>
              <a:t>Nitin</a:t>
            </a:r>
            <a:r>
              <a:rPr lang="en-US" b="1" dirty="0"/>
              <a:t> teams with </a:t>
            </a:r>
            <a:r>
              <a:rPr lang="en-US" b="1" dirty="0" err="1"/>
              <a:t>Sagar</a:t>
            </a:r>
            <a:r>
              <a:rPr lang="en-US" b="1" dirty="0"/>
              <a:t> in Football and with </a:t>
            </a:r>
            <a:r>
              <a:rPr lang="en-US" b="1" dirty="0" err="1"/>
              <a:t>Sachin</a:t>
            </a:r>
            <a:r>
              <a:rPr lang="en-US" b="1" dirty="0"/>
              <a:t> in Hockey. </a:t>
            </a:r>
            <a:r>
              <a:rPr lang="en-US" b="1" dirty="0" err="1"/>
              <a:t>Rohit</a:t>
            </a:r>
            <a:r>
              <a:rPr lang="en-US" b="1" dirty="0"/>
              <a:t> defeated </a:t>
            </a:r>
            <a:r>
              <a:rPr lang="en-US" b="1" dirty="0" err="1"/>
              <a:t>Sachin</a:t>
            </a:r>
            <a:r>
              <a:rPr lang="en-US" b="1" dirty="0"/>
              <a:t> in chess. Those who play cricket do not play Badminton, Volleyball and Tennis. </a:t>
            </a:r>
            <a:r>
              <a:rPr lang="en-US" b="1" dirty="0" err="1"/>
              <a:t>Madan</a:t>
            </a:r>
            <a:r>
              <a:rPr lang="en-US" b="1" dirty="0"/>
              <a:t> and </a:t>
            </a:r>
            <a:r>
              <a:rPr lang="en-US" b="1" dirty="0" err="1"/>
              <a:t>Parth</a:t>
            </a:r>
            <a:r>
              <a:rPr lang="en-US" b="1" dirty="0"/>
              <a:t> are in opposite teams of Basketball. </a:t>
            </a:r>
            <a:r>
              <a:rPr lang="en-US" b="1" dirty="0" err="1"/>
              <a:t>Nitin</a:t>
            </a:r>
            <a:r>
              <a:rPr lang="en-US" b="1" dirty="0"/>
              <a:t> represents his state in Cricket while </a:t>
            </a:r>
            <a:r>
              <a:rPr lang="en-US" b="1" dirty="0" err="1"/>
              <a:t>Sagar</a:t>
            </a:r>
            <a:r>
              <a:rPr lang="en-US" b="1" dirty="0"/>
              <a:t> does so at the district level. Boys who play Chess do not play Football, </a:t>
            </a:r>
            <a:r>
              <a:rPr lang="en-US" b="1" dirty="0" err="1"/>
              <a:t>Basketaball</a:t>
            </a:r>
            <a:r>
              <a:rPr lang="en-US" b="1" dirty="0"/>
              <a:t> and Volleyball. </a:t>
            </a:r>
            <a:r>
              <a:rPr lang="en-US" b="1" dirty="0" err="1"/>
              <a:t>Madan</a:t>
            </a:r>
            <a:r>
              <a:rPr lang="en-US" b="1" dirty="0"/>
              <a:t> and </a:t>
            </a:r>
            <a:r>
              <a:rPr lang="en-US" b="1" dirty="0" err="1"/>
              <a:t>Parth</a:t>
            </a:r>
            <a:r>
              <a:rPr lang="en-US" b="1" dirty="0"/>
              <a:t> are together in the Volleyball team. Boys who play Football also play Hockey.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569627"/>
            <a:ext cx="11987048" cy="584694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 lvl="0">
              <a:buNone/>
            </a:pPr>
            <a:r>
              <a:rPr lang="en-US" sz="1800" b="1" dirty="0"/>
              <a:t> </a:t>
            </a:r>
            <a:r>
              <a:rPr lang="en-US" b="1" dirty="0"/>
              <a:t>Q 4. Name the boys who do not play football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Sachin</a:t>
            </a:r>
            <a:r>
              <a:rPr lang="en-US" b="1" dirty="0"/>
              <a:t>, </a:t>
            </a:r>
            <a:r>
              <a:rPr lang="en-US" b="1" dirty="0" err="1"/>
              <a:t>Nitin</a:t>
            </a:r>
            <a:r>
              <a:rPr lang="en-US" b="1" dirty="0"/>
              <a:t>          (b) </a:t>
            </a:r>
            <a:r>
              <a:rPr lang="en-US" b="1" dirty="0" err="1"/>
              <a:t>Rohit</a:t>
            </a:r>
            <a:r>
              <a:rPr lang="en-US" b="1" dirty="0"/>
              <a:t>, </a:t>
            </a:r>
            <a:r>
              <a:rPr lang="en-US" b="1" dirty="0" err="1"/>
              <a:t>Sagar</a:t>
            </a:r>
            <a:r>
              <a:rPr lang="en-US" b="1" dirty="0"/>
              <a:t>           (c) </a:t>
            </a:r>
            <a:r>
              <a:rPr lang="en-US" b="1" dirty="0" err="1"/>
              <a:t>Rohit</a:t>
            </a:r>
            <a:r>
              <a:rPr lang="en-US" b="1" dirty="0"/>
              <a:t>, </a:t>
            </a:r>
            <a:r>
              <a:rPr lang="en-US" b="1" dirty="0" err="1"/>
              <a:t>Sachin</a:t>
            </a:r>
            <a:r>
              <a:rPr lang="en-US" b="1" dirty="0"/>
              <a:t>	      (d) </a:t>
            </a:r>
            <a:r>
              <a:rPr lang="en-US" b="1" dirty="0" err="1"/>
              <a:t>Rohit</a:t>
            </a:r>
            <a:r>
              <a:rPr lang="en-US" b="1" dirty="0"/>
              <a:t>, </a:t>
            </a:r>
            <a:r>
              <a:rPr lang="en-US" b="1" dirty="0" err="1"/>
              <a:t>Nitin</a:t>
            </a:r>
            <a:endParaRPr lang="en-US" b="1" dirty="0"/>
          </a:p>
          <a:p>
            <a:pPr lvl="0">
              <a:buNone/>
            </a:pPr>
            <a:r>
              <a:rPr lang="en-US" b="1" dirty="0"/>
              <a:t>Q 5. Who plays both hockey and tennis?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Sachin</a:t>
            </a:r>
            <a:r>
              <a:rPr lang="en-US" b="1" dirty="0"/>
              <a:t>                    (b) </a:t>
            </a:r>
            <a:r>
              <a:rPr lang="en-US" b="1" dirty="0" err="1"/>
              <a:t>Rohit</a:t>
            </a:r>
            <a:r>
              <a:rPr lang="en-US" b="1" dirty="0"/>
              <a:t>          		(c) </a:t>
            </a:r>
            <a:r>
              <a:rPr lang="en-US" b="1" dirty="0" err="1"/>
              <a:t>Nitin</a:t>
            </a:r>
            <a:r>
              <a:rPr lang="en-US" b="1" dirty="0"/>
              <a:t>           	(d) </a:t>
            </a:r>
            <a:r>
              <a:rPr lang="en-US" b="1" dirty="0" err="1"/>
              <a:t>Parth</a:t>
            </a:r>
            <a:endParaRPr lang="en-US" b="1" dirty="0"/>
          </a:p>
          <a:p>
            <a:pPr lvl="0">
              <a:buNone/>
            </a:pPr>
            <a:r>
              <a:rPr lang="en-US" b="1" dirty="0"/>
              <a:t>Q 6. Which is the most popular game with this group?</a:t>
            </a:r>
          </a:p>
          <a:p>
            <a:pPr>
              <a:buNone/>
            </a:pPr>
            <a:r>
              <a:rPr lang="en-US" b="1" dirty="0"/>
              <a:t>(a) Cricket                   (b) Hockey      		(c) Football      	(d) Badminton</a:t>
            </a:r>
          </a:p>
          <a:p>
            <a:pPr lvl="0">
              <a:buNone/>
            </a:pPr>
            <a:r>
              <a:rPr lang="en-US" b="1" dirty="0"/>
              <a:t>Q 7. Who plays the largest number of games?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Sagar</a:t>
            </a:r>
            <a:r>
              <a:rPr lang="en-US" b="1" dirty="0"/>
              <a:t>                     (b) </a:t>
            </a:r>
            <a:r>
              <a:rPr lang="en-US" b="1" dirty="0" err="1"/>
              <a:t>Rohit</a:t>
            </a:r>
            <a:r>
              <a:rPr lang="en-US" b="1" dirty="0"/>
              <a:t>          		(c) </a:t>
            </a:r>
            <a:r>
              <a:rPr lang="en-US" b="1" dirty="0" err="1"/>
              <a:t>Parth</a:t>
            </a:r>
            <a:r>
              <a:rPr lang="en-US" b="1" dirty="0"/>
              <a:t>          	(d) </a:t>
            </a:r>
            <a:r>
              <a:rPr lang="en-US" b="1" dirty="0" err="1"/>
              <a:t>Nitin</a:t>
            </a:r>
            <a:endParaRPr lang="en-US" b="1" dirty="0"/>
          </a:p>
          <a:p>
            <a:pPr lvl="0">
              <a:buNone/>
            </a:pPr>
            <a:r>
              <a:rPr lang="en-US" b="1" dirty="0"/>
              <a:t>Q 8. Which boy plays both badminton and hockey?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Sachin</a:t>
            </a:r>
            <a:r>
              <a:rPr lang="en-US" b="1" dirty="0"/>
              <a:t>                    (b) </a:t>
            </a:r>
            <a:r>
              <a:rPr lang="en-US" b="1" dirty="0" err="1"/>
              <a:t>Rohit</a:t>
            </a:r>
            <a:r>
              <a:rPr lang="en-US" b="1" dirty="0"/>
              <a:t>         		(c) </a:t>
            </a:r>
            <a:r>
              <a:rPr lang="en-US" b="1" dirty="0" err="1"/>
              <a:t>Nitin</a:t>
            </a:r>
            <a:r>
              <a:rPr lang="en-US" b="1" dirty="0"/>
              <a:t>           	(d) </a:t>
            </a:r>
            <a:r>
              <a:rPr lang="en-US" b="1" dirty="0" err="1"/>
              <a:t>Parth</a:t>
            </a: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44577"/>
            <a:ext cx="11987048" cy="577198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 lvl="0">
              <a:buNone/>
            </a:pPr>
            <a:r>
              <a:rPr lang="en-US" sz="1800" b="1" dirty="0"/>
              <a:t> </a:t>
            </a:r>
            <a:r>
              <a:rPr lang="en-US" b="1" dirty="0"/>
              <a:t>Q 4. Name the boys who do not play football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Sachin</a:t>
            </a:r>
            <a:r>
              <a:rPr lang="en-US" b="1" dirty="0"/>
              <a:t>, </a:t>
            </a:r>
            <a:r>
              <a:rPr lang="en-US" b="1" dirty="0" err="1"/>
              <a:t>Nitin</a:t>
            </a:r>
            <a:r>
              <a:rPr lang="en-US" b="1" dirty="0"/>
              <a:t>          (b) </a:t>
            </a:r>
            <a:r>
              <a:rPr lang="en-US" b="1" dirty="0" err="1"/>
              <a:t>Rohit</a:t>
            </a:r>
            <a:r>
              <a:rPr lang="en-US" b="1" dirty="0"/>
              <a:t>, </a:t>
            </a:r>
            <a:r>
              <a:rPr lang="en-US" b="1" dirty="0" err="1"/>
              <a:t>Sagar</a:t>
            </a:r>
            <a:r>
              <a:rPr lang="en-US" b="1" dirty="0"/>
              <a:t>          </a:t>
            </a:r>
            <a:r>
              <a:rPr lang="en-US" b="1" dirty="0">
                <a:solidFill>
                  <a:srgbClr val="FF0000"/>
                </a:solidFill>
              </a:rPr>
              <a:t> (c) </a:t>
            </a:r>
            <a:r>
              <a:rPr lang="en-US" b="1" dirty="0" err="1">
                <a:solidFill>
                  <a:srgbClr val="FF0000"/>
                </a:solidFill>
              </a:rPr>
              <a:t>Rohit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Sachin</a:t>
            </a:r>
            <a:r>
              <a:rPr lang="en-US" b="1" dirty="0"/>
              <a:t>	      (d) </a:t>
            </a:r>
            <a:r>
              <a:rPr lang="en-US" b="1" dirty="0" err="1"/>
              <a:t>Rohit</a:t>
            </a:r>
            <a:r>
              <a:rPr lang="en-US" b="1" dirty="0"/>
              <a:t>, </a:t>
            </a:r>
            <a:r>
              <a:rPr lang="en-US" b="1" dirty="0" err="1"/>
              <a:t>Nitin</a:t>
            </a:r>
            <a:endParaRPr lang="en-US" b="1" dirty="0"/>
          </a:p>
          <a:p>
            <a:pPr lvl="0">
              <a:buNone/>
            </a:pPr>
            <a:r>
              <a:rPr lang="en-US" b="1" dirty="0"/>
              <a:t>Q 5. Who plays both hockey and tennis?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(a) </a:t>
            </a:r>
            <a:r>
              <a:rPr lang="en-US" b="1" dirty="0" err="1">
                <a:solidFill>
                  <a:srgbClr val="FF0000"/>
                </a:solidFill>
              </a:rPr>
              <a:t>Sachin</a:t>
            </a:r>
            <a:r>
              <a:rPr lang="en-US" b="1" dirty="0"/>
              <a:t>                    (b) </a:t>
            </a:r>
            <a:r>
              <a:rPr lang="en-US" b="1" dirty="0" err="1"/>
              <a:t>Rohit</a:t>
            </a:r>
            <a:r>
              <a:rPr lang="en-US" b="1" dirty="0"/>
              <a:t>          		(c) </a:t>
            </a:r>
            <a:r>
              <a:rPr lang="en-US" b="1" dirty="0" err="1"/>
              <a:t>Nitin</a:t>
            </a:r>
            <a:r>
              <a:rPr lang="en-US" b="1" dirty="0"/>
              <a:t>           	(d) </a:t>
            </a:r>
            <a:r>
              <a:rPr lang="en-US" b="1" dirty="0" err="1"/>
              <a:t>Parth</a:t>
            </a:r>
            <a:endParaRPr lang="en-US" b="1" dirty="0"/>
          </a:p>
          <a:p>
            <a:pPr lvl="0">
              <a:buNone/>
            </a:pPr>
            <a:r>
              <a:rPr lang="en-US" b="1" dirty="0"/>
              <a:t>Q 6. Which is the most popular game with this group?</a:t>
            </a:r>
          </a:p>
          <a:p>
            <a:pPr>
              <a:buNone/>
            </a:pPr>
            <a:r>
              <a:rPr lang="en-US" b="1" dirty="0"/>
              <a:t>(a) Cricket                  </a:t>
            </a:r>
            <a:r>
              <a:rPr lang="en-US" b="1" dirty="0">
                <a:solidFill>
                  <a:srgbClr val="FF0000"/>
                </a:solidFill>
              </a:rPr>
              <a:t> (b) Hockey </a:t>
            </a:r>
            <a:r>
              <a:rPr lang="en-US" b="1" dirty="0"/>
              <a:t>     		(c) Football      	(d) Badminton</a:t>
            </a:r>
          </a:p>
          <a:p>
            <a:pPr lvl="0">
              <a:buNone/>
            </a:pPr>
            <a:r>
              <a:rPr lang="en-US" b="1" dirty="0"/>
              <a:t>Q 7. Who plays the largest number of games?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Sagar</a:t>
            </a:r>
            <a:r>
              <a:rPr lang="en-US" b="1" dirty="0"/>
              <a:t>                     (b) </a:t>
            </a:r>
            <a:r>
              <a:rPr lang="en-US" b="1" dirty="0" err="1"/>
              <a:t>Rohit</a:t>
            </a:r>
            <a:r>
              <a:rPr lang="en-US" b="1" dirty="0"/>
              <a:t>          		</a:t>
            </a:r>
            <a:r>
              <a:rPr lang="en-US" b="1" dirty="0">
                <a:solidFill>
                  <a:srgbClr val="FF0000"/>
                </a:solidFill>
              </a:rPr>
              <a:t>(c) </a:t>
            </a:r>
            <a:r>
              <a:rPr lang="en-US" b="1" dirty="0" err="1">
                <a:solidFill>
                  <a:srgbClr val="FF0000"/>
                </a:solidFill>
              </a:rPr>
              <a:t>Parth</a:t>
            </a:r>
            <a:r>
              <a:rPr lang="en-US" b="1" dirty="0"/>
              <a:t>          	(d) </a:t>
            </a:r>
            <a:r>
              <a:rPr lang="en-US" b="1" dirty="0" err="1"/>
              <a:t>Nitin</a:t>
            </a:r>
            <a:endParaRPr lang="en-US" b="1" dirty="0"/>
          </a:p>
          <a:p>
            <a:pPr lvl="0">
              <a:buNone/>
            </a:pPr>
            <a:r>
              <a:rPr lang="en-US" b="1" dirty="0"/>
              <a:t>Q 8. Which boy plays both badminton and hockey?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Sachin</a:t>
            </a:r>
            <a:r>
              <a:rPr lang="en-US" b="1" dirty="0"/>
              <a:t>                </a:t>
            </a:r>
            <a:r>
              <a:rPr lang="en-US" b="1" dirty="0">
                <a:solidFill>
                  <a:srgbClr val="FF0000"/>
                </a:solidFill>
              </a:rPr>
              <a:t>    (b) </a:t>
            </a:r>
            <a:r>
              <a:rPr lang="en-US" b="1" dirty="0" err="1">
                <a:solidFill>
                  <a:srgbClr val="FF0000"/>
                </a:solidFill>
              </a:rPr>
              <a:t>Rohit</a:t>
            </a:r>
            <a:r>
              <a:rPr lang="en-US" b="1" dirty="0">
                <a:solidFill>
                  <a:srgbClr val="FF0000"/>
                </a:solidFill>
              </a:rPr>
              <a:t> </a:t>
            </a:r>
            <a:r>
              <a:rPr lang="en-US" b="1" dirty="0"/>
              <a:t>        		(c) </a:t>
            </a:r>
            <a:r>
              <a:rPr lang="en-US" b="1" dirty="0" err="1"/>
              <a:t>Nitin</a:t>
            </a:r>
            <a:r>
              <a:rPr lang="en-US" b="1" dirty="0"/>
              <a:t>           	(d) </a:t>
            </a:r>
            <a:r>
              <a:rPr lang="en-US" b="1" dirty="0" err="1"/>
              <a:t>Parth</a:t>
            </a: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44577"/>
            <a:ext cx="11733048" cy="57719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sz="1800" b="1" dirty="0"/>
              <a:t> 	</a:t>
            </a:r>
            <a:r>
              <a:rPr lang="en-US" b="1" dirty="0"/>
              <a:t>Question 9: In a group of six women, there are four dancers, four vocal musicians, one actress and three violinists. </a:t>
            </a:r>
            <a:r>
              <a:rPr lang="en-US" b="1" dirty="0" err="1"/>
              <a:t>Girija</a:t>
            </a:r>
            <a:r>
              <a:rPr lang="en-US" b="1" dirty="0"/>
              <a:t> and </a:t>
            </a:r>
            <a:r>
              <a:rPr lang="en-US" b="1" dirty="0" err="1"/>
              <a:t>Vanaja</a:t>
            </a:r>
            <a:r>
              <a:rPr lang="en-US" b="1" dirty="0"/>
              <a:t> are among the violinists while </a:t>
            </a:r>
            <a:r>
              <a:rPr lang="en-US" b="1" dirty="0" err="1"/>
              <a:t>Jalaja</a:t>
            </a:r>
            <a:r>
              <a:rPr lang="en-US" b="1" dirty="0"/>
              <a:t> and </a:t>
            </a:r>
            <a:r>
              <a:rPr lang="en-US" b="1" dirty="0" err="1"/>
              <a:t>Shailja</a:t>
            </a:r>
            <a:r>
              <a:rPr lang="en-US" b="1" dirty="0"/>
              <a:t> do not know how to play on the </a:t>
            </a:r>
            <a:r>
              <a:rPr lang="en-US" b="1" dirty="0" err="1"/>
              <a:t>vilion</a:t>
            </a:r>
            <a:r>
              <a:rPr lang="en-US" b="1" dirty="0"/>
              <a:t>. </a:t>
            </a:r>
            <a:r>
              <a:rPr lang="en-US" b="1" dirty="0" err="1"/>
              <a:t>Shailja</a:t>
            </a:r>
            <a:r>
              <a:rPr lang="en-US" b="1" dirty="0"/>
              <a:t> and </a:t>
            </a:r>
            <a:r>
              <a:rPr lang="en-US" b="1" dirty="0" err="1"/>
              <a:t>Tanuja</a:t>
            </a:r>
            <a:r>
              <a:rPr lang="en-US" b="1" dirty="0"/>
              <a:t> are among the dancer. </a:t>
            </a:r>
            <a:r>
              <a:rPr lang="en-US" b="1" dirty="0" err="1"/>
              <a:t>Jalaja</a:t>
            </a:r>
            <a:r>
              <a:rPr lang="en-US" b="1" dirty="0"/>
              <a:t>, </a:t>
            </a:r>
            <a:r>
              <a:rPr lang="en-US" b="1" dirty="0" err="1"/>
              <a:t>Vanaja</a:t>
            </a:r>
            <a:r>
              <a:rPr lang="en-US" b="1" dirty="0"/>
              <a:t>, </a:t>
            </a:r>
            <a:r>
              <a:rPr lang="en-US" b="1" dirty="0" err="1"/>
              <a:t>Shailja</a:t>
            </a:r>
            <a:r>
              <a:rPr lang="en-US" b="1" dirty="0"/>
              <a:t> and </a:t>
            </a:r>
            <a:r>
              <a:rPr lang="en-US" b="1" dirty="0" err="1"/>
              <a:t>Tanuja</a:t>
            </a:r>
            <a:r>
              <a:rPr lang="en-US" b="1" dirty="0"/>
              <a:t> are all vocal musicians and two of them are also violinists. </a:t>
            </a:r>
          </a:p>
          <a:p>
            <a:pPr lvl="0">
              <a:buNone/>
            </a:pPr>
            <a:r>
              <a:rPr lang="en-US" b="1" dirty="0"/>
              <a:t>  If Pooja is an actress, then who among the following is both a dancer and a violinist?</a:t>
            </a:r>
          </a:p>
          <a:p>
            <a:pPr>
              <a:buNone/>
            </a:pPr>
            <a:r>
              <a:rPr lang="en-US" b="1" dirty="0"/>
              <a:t>(a) </a:t>
            </a:r>
            <a:r>
              <a:rPr lang="en-US" b="1" dirty="0" err="1"/>
              <a:t>Jalaja</a:t>
            </a:r>
            <a:r>
              <a:rPr lang="en-US" b="1" dirty="0"/>
              <a:t>       (b) </a:t>
            </a:r>
            <a:r>
              <a:rPr lang="en-US" b="1" dirty="0" err="1"/>
              <a:t>Shailja</a:t>
            </a:r>
            <a:r>
              <a:rPr lang="en-US" b="1" dirty="0"/>
              <a:t>       (c) </a:t>
            </a:r>
            <a:r>
              <a:rPr lang="en-US" b="1" dirty="0" err="1"/>
              <a:t>Tanuja</a:t>
            </a:r>
            <a:r>
              <a:rPr lang="en-US" b="1" dirty="0"/>
              <a:t>       (d) </a:t>
            </a:r>
            <a:r>
              <a:rPr lang="en-US" b="1" dirty="0" err="1"/>
              <a:t>Pooja</a:t>
            </a:r>
            <a:r>
              <a:rPr lang="en-US" b="1" dirty="0"/>
              <a:t>      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 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sz="1800" b="1" dirty="0"/>
              <a:t> 	</a:t>
            </a:r>
            <a:r>
              <a:rPr lang="en-US" b="1" dirty="0"/>
              <a:t>Question 9: In a group of six women, there are four dancers, four vocal musicians, one actress and three violinists. </a:t>
            </a:r>
            <a:r>
              <a:rPr lang="en-US" b="1" dirty="0" err="1"/>
              <a:t>Girija</a:t>
            </a:r>
            <a:r>
              <a:rPr lang="en-US" b="1" dirty="0"/>
              <a:t> and </a:t>
            </a:r>
            <a:r>
              <a:rPr lang="en-US" b="1" dirty="0" err="1"/>
              <a:t>Vanaja</a:t>
            </a:r>
            <a:r>
              <a:rPr lang="en-US" b="1" dirty="0"/>
              <a:t> are among the violinists while </a:t>
            </a:r>
            <a:r>
              <a:rPr lang="en-US" b="1" dirty="0" err="1"/>
              <a:t>Jalaja</a:t>
            </a:r>
            <a:r>
              <a:rPr lang="en-US" b="1" dirty="0"/>
              <a:t> and </a:t>
            </a:r>
            <a:r>
              <a:rPr lang="en-US" b="1" dirty="0" err="1"/>
              <a:t>Shailja</a:t>
            </a:r>
            <a:r>
              <a:rPr lang="en-US" b="1" dirty="0"/>
              <a:t> do not know how to play on the </a:t>
            </a:r>
            <a:r>
              <a:rPr lang="en-US" b="1" dirty="0" err="1"/>
              <a:t>vilion</a:t>
            </a:r>
            <a:r>
              <a:rPr lang="en-US" b="1" dirty="0"/>
              <a:t>. </a:t>
            </a:r>
            <a:r>
              <a:rPr lang="en-US" b="1" dirty="0" err="1"/>
              <a:t>Shailja</a:t>
            </a:r>
            <a:r>
              <a:rPr lang="en-US" b="1" dirty="0"/>
              <a:t> and </a:t>
            </a:r>
            <a:r>
              <a:rPr lang="en-US" b="1" dirty="0" err="1"/>
              <a:t>Tanuja</a:t>
            </a:r>
            <a:r>
              <a:rPr lang="en-US" b="1" dirty="0"/>
              <a:t> are among the dancer. </a:t>
            </a:r>
            <a:r>
              <a:rPr lang="en-US" b="1" dirty="0" err="1"/>
              <a:t>Jalaja</a:t>
            </a:r>
            <a:r>
              <a:rPr lang="en-US" b="1" dirty="0"/>
              <a:t>, </a:t>
            </a:r>
            <a:r>
              <a:rPr lang="en-US" b="1" dirty="0" err="1"/>
              <a:t>Vanaja</a:t>
            </a:r>
            <a:r>
              <a:rPr lang="en-US" b="1" dirty="0"/>
              <a:t>, </a:t>
            </a:r>
            <a:r>
              <a:rPr lang="en-US" b="1" dirty="0" err="1"/>
              <a:t>Shailja</a:t>
            </a:r>
            <a:r>
              <a:rPr lang="en-US" b="1" dirty="0"/>
              <a:t> and </a:t>
            </a:r>
            <a:r>
              <a:rPr lang="en-US" b="1" dirty="0" err="1"/>
              <a:t>Tanuja</a:t>
            </a:r>
            <a:r>
              <a:rPr lang="en-US" b="1" dirty="0"/>
              <a:t> are all vocal musicians and two of them are also violinists. </a:t>
            </a:r>
          </a:p>
          <a:p>
            <a:pPr lvl="0">
              <a:buNone/>
            </a:pPr>
            <a:r>
              <a:rPr lang="en-US" b="1" dirty="0"/>
              <a:t>   If Pooja is an actress, then who among the following is both a dancer and a violinist?</a:t>
            </a:r>
          </a:p>
          <a:p>
            <a:pPr>
              <a:buNone/>
            </a:pPr>
            <a:r>
              <a:rPr lang="en-US" b="1" dirty="0"/>
              <a:t>(a) </a:t>
            </a:r>
            <a:r>
              <a:rPr lang="en-US" b="1" dirty="0" err="1"/>
              <a:t>Jalaja</a:t>
            </a:r>
            <a:r>
              <a:rPr lang="en-US" b="1" dirty="0"/>
              <a:t>       (b) </a:t>
            </a:r>
            <a:r>
              <a:rPr lang="en-US" b="1" dirty="0" err="1"/>
              <a:t>Shailja</a:t>
            </a:r>
            <a:r>
              <a:rPr lang="en-US" b="1" dirty="0"/>
              <a:t>      </a:t>
            </a:r>
            <a:r>
              <a:rPr lang="en-US" b="1" dirty="0">
                <a:solidFill>
                  <a:srgbClr val="FF0000"/>
                </a:solidFill>
              </a:rPr>
              <a:t> (c) </a:t>
            </a:r>
            <a:r>
              <a:rPr lang="en-US" b="1" dirty="0" err="1">
                <a:solidFill>
                  <a:srgbClr val="FF0000"/>
                </a:solidFill>
              </a:rPr>
              <a:t>Tanuja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      (d) </a:t>
            </a:r>
            <a:r>
              <a:rPr lang="en-US" b="1" dirty="0" err="1"/>
              <a:t>Pooja</a:t>
            </a:r>
            <a:r>
              <a:rPr lang="en-US" b="1" dirty="0"/>
              <a:t>      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 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34927D-2C06-EED9-59BB-C8569B4C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5B434-564D-846A-B389-D9C4EDB8D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sz="1800" b="1" dirty="0"/>
              <a:t> 	</a:t>
            </a:r>
            <a:r>
              <a:rPr lang="en-US" b="1" dirty="0"/>
              <a:t>Question (10-13): Four young men, Raj, Prem, Veda and Ashok are friendly with four girls, Sushma, Kusum, </a:t>
            </a:r>
            <a:r>
              <a:rPr lang="en-US" b="1" dirty="0" err="1"/>
              <a:t>Vimla</a:t>
            </a:r>
            <a:r>
              <a:rPr lang="en-US" b="1" dirty="0"/>
              <a:t> and Poonam. Sushma and </a:t>
            </a:r>
            <a:r>
              <a:rPr lang="en-US" b="1" dirty="0" err="1"/>
              <a:t>Vimla</a:t>
            </a:r>
            <a:r>
              <a:rPr lang="en-US" b="1" dirty="0"/>
              <a:t> are friends. Veda’s girlfriend does not like Sushma and </a:t>
            </a:r>
            <a:r>
              <a:rPr lang="en-US" b="1" dirty="0" err="1"/>
              <a:t>Vimla</a:t>
            </a:r>
            <a:r>
              <a:rPr lang="en-US" b="1" dirty="0"/>
              <a:t>. Kusum does not care for Veda. Prem's girlfriend is friendly with Sushma. Sushma does not like Raj.  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463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b="1" dirty="0"/>
              <a:t> Q10. Who is raj’s girlfriend?</a:t>
            </a:r>
          </a:p>
          <a:p>
            <a:pPr marL="457200" indent="-457200">
              <a:buAutoNum type="alphaLcParenBoth"/>
            </a:pPr>
            <a:r>
              <a:rPr lang="en-US" b="1" dirty="0" err="1"/>
              <a:t>Sushma</a:t>
            </a:r>
            <a:r>
              <a:rPr lang="en-US" b="1" dirty="0"/>
              <a:t>		(b)</a:t>
            </a:r>
            <a:r>
              <a:rPr lang="en-US" b="1" dirty="0" err="1"/>
              <a:t>Kusum</a:t>
            </a:r>
            <a:r>
              <a:rPr lang="en-US" b="1" dirty="0"/>
              <a:t>		(c)</a:t>
            </a:r>
            <a:r>
              <a:rPr lang="en-US" b="1" dirty="0" err="1"/>
              <a:t>Vimla</a:t>
            </a:r>
            <a:r>
              <a:rPr lang="en-US" b="1" dirty="0"/>
              <a:t>		(d)</a:t>
            </a:r>
            <a:r>
              <a:rPr lang="en-US" b="1" dirty="0" err="1"/>
              <a:t>Poonam</a:t>
            </a:r>
            <a:endParaRPr lang="en-US" b="1" dirty="0"/>
          </a:p>
          <a:p>
            <a:pPr marL="457200" indent="-457200">
              <a:buAutoNum type="alphaLcParenBoth"/>
            </a:pPr>
            <a:endParaRPr lang="en-US" b="1" dirty="0"/>
          </a:p>
          <a:p>
            <a:pPr>
              <a:buNone/>
            </a:pPr>
            <a:r>
              <a:rPr lang="en-US" b="1" dirty="0"/>
              <a:t>Q 11. With whom is </a:t>
            </a:r>
            <a:r>
              <a:rPr lang="en-US" b="1" dirty="0" err="1"/>
              <a:t>Sushma</a:t>
            </a:r>
            <a:r>
              <a:rPr lang="en-US" b="1" dirty="0"/>
              <a:t> friendly?</a:t>
            </a:r>
          </a:p>
          <a:p>
            <a:pPr marL="457200" indent="-457200">
              <a:buAutoNum type="alphaLcParenBoth"/>
            </a:pPr>
            <a:r>
              <a:rPr lang="en-US" b="1" dirty="0" err="1"/>
              <a:t>Kusum</a:t>
            </a:r>
            <a:r>
              <a:rPr lang="en-US" b="1" dirty="0"/>
              <a:t>		(b) Ashok 		(c) Raj 		(d) </a:t>
            </a:r>
            <a:r>
              <a:rPr lang="en-US" b="1" dirty="0" err="1"/>
              <a:t>Prem</a:t>
            </a:r>
            <a:r>
              <a:rPr lang="en-US" b="1" dirty="0"/>
              <a:t> 	</a:t>
            </a:r>
          </a:p>
          <a:p>
            <a:pPr marL="457200" indent="-457200">
              <a:buNone/>
            </a:pPr>
            <a:r>
              <a:rPr lang="en-US" b="1" dirty="0"/>
              <a:t>(e) None of these</a:t>
            </a:r>
          </a:p>
          <a:p>
            <a:pPr marL="457200" indent="-457200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12. Who is </a:t>
            </a:r>
            <a:r>
              <a:rPr lang="en-US" b="1" dirty="0" err="1"/>
              <a:t>Poonam’s</a:t>
            </a:r>
            <a:r>
              <a:rPr lang="en-US" b="1" dirty="0"/>
              <a:t> boyfriend?</a:t>
            </a:r>
          </a:p>
          <a:p>
            <a:pPr marL="457200" indent="-457200">
              <a:buAutoNum type="alphaLcParenBoth"/>
            </a:pPr>
            <a:r>
              <a:rPr lang="en-US" b="1" dirty="0"/>
              <a:t>Ashok		(b) </a:t>
            </a:r>
            <a:r>
              <a:rPr lang="en-US" b="1" dirty="0" err="1"/>
              <a:t>Ved</a:t>
            </a:r>
            <a:r>
              <a:rPr lang="en-US" b="1" dirty="0"/>
              <a:t>		(c) </a:t>
            </a:r>
            <a:r>
              <a:rPr lang="en-US" b="1" dirty="0" err="1"/>
              <a:t>Prem</a:t>
            </a:r>
            <a:r>
              <a:rPr lang="en-US" b="1" dirty="0"/>
              <a:t>		(d) Raj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>
              <a:buNone/>
            </a:pPr>
            <a:r>
              <a:rPr lang="en-US" b="1" dirty="0"/>
              <a:t>Q 13. Who does not like </a:t>
            </a:r>
            <a:r>
              <a:rPr lang="en-US" b="1" dirty="0" err="1"/>
              <a:t>Sushma</a:t>
            </a:r>
            <a:r>
              <a:rPr lang="en-US" b="1" dirty="0"/>
              <a:t> and </a:t>
            </a:r>
            <a:r>
              <a:rPr lang="en-US" b="1" dirty="0" err="1"/>
              <a:t>Vimla</a:t>
            </a:r>
            <a:r>
              <a:rPr lang="en-US" b="1" dirty="0"/>
              <a:t>?</a:t>
            </a:r>
          </a:p>
          <a:p>
            <a:pPr>
              <a:buNone/>
            </a:pPr>
            <a:r>
              <a:rPr lang="en-US" b="1" dirty="0"/>
              <a:t>(a) </a:t>
            </a:r>
            <a:r>
              <a:rPr lang="en-US" b="1" dirty="0" err="1"/>
              <a:t>Poonam</a:t>
            </a:r>
            <a:r>
              <a:rPr lang="en-US" b="1" dirty="0"/>
              <a:t>		(b) Raj		(c) Ashok		(d)</a:t>
            </a:r>
            <a:r>
              <a:rPr lang="en-US" b="1" dirty="0" err="1"/>
              <a:t>Ved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b="1" dirty="0"/>
              <a:t> Q10. Who is raj’s girlfriend?</a:t>
            </a:r>
          </a:p>
          <a:p>
            <a:pPr marL="457200" indent="-457200">
              <a:buAutoNum type="alphaLcParenBoth"/>
            </a:pPr>
            <a:r>
              <a:rPr lang="en-US" b="1" dirty="0" err="1">
                <a:solidFill>
                  <a:srgbClr val="FF0000"/>
                </a:solidFill>
              </a:rPr>
              <a:t>Sushma</a:t>
            </a:r>
            <a:r>
              <a:rPr lang="en-US" b="1" dirty="0"/>
              <a:t>		(b)</a:t>
            </a:r>
            <a:r>
              <a:rPr lang="en-US" b="1" dirty="0" err="1"/>
              <a:t>Kusum</a:t>
            </a:r>
            <a:r>
              <a:rPr lang="en-US" b="1" dirty="0"/>
              <a:t>		(c)</a:t>
            </a:r>
            <a:r>
              <a:rPr lang="en-US" b="1" dirty="0" err="1"/>
              <a:t>Vimla</a:t>
            </a:r>
            <a:r>
              <a:rPr lang="en-US" b="1" dirty="0"/>
              <a:t>		(d)</a:t>
            </a:r>
            <a:r>
              <a:rPr lang="en-US" b="1" dirty="0" err="1"/>
              <a:t>Poonam</a:t>
            </a:r>
            <a:endParaRPr lang="en-US" b="1" dirty="0"/>
          </a:p>
          <a:p>
            <a:pPr marL="457200" indent="-457200">
              <a:buAutoNum type="alphaLcParenBoth"/>
            </a:pPr>
            <a:endParaRPr lang="en-US" b="1" dirty="0"/>
          </a:p>
          <a:p>
            <a:pPr>
              <a:buNone/>
            </a:pPr>
            <a:r>
              <a:rPr lang="en-US" b="1" dirty="0"/>
              <a:t>Q 11. With whom is </a:t>
            </a:r>
            <a:r>
              <a:rPr lang="en-US" b="1" dirty="0" err="1"/>
              <a:t>Sushma</a:t>
            </a:r>
            <a:r>
              <a:rPr lang="en-US" b="1" dirty="0"/>
              <a:t> friendly?</a:t>
            </a:r>
          </a:p>
          <a:p>
            <a:pPr marL="457200" indent="-457200">
              <a:buAutoNum type="alphaLcParenBoth"/>
            </a:pPr>
            <a:r>
              <a:rPr lang="en-US" b="1" dirty="0" err="1"/>
              <a:t>Kusum</a:t>
            </a:r>
            <a:r>
              <a:rPr lang="en-US" b="1" dirty="0"/>
              <a:t>		(b) Ashok 		(c) Raj 		(d) </a:t>
            </a:r>
            <a:r>
              <a:rPr lang="en-US" b="1" dirty="0" err="1"/>
              <a:t>Prem</a:t>
            </a:r>
            <a:r>
              <a:rPr lang="en-US" b="1" dirty="0"/>
              <a:t> 	</a:t>
            </a:r>
          </a:p>
          <a:p>
            <a:pPr marL="45720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(e) None of these</a:t>
            </a:r>
          </a:p>
          <a:p>
            <a:pPr marL="457200" indent="-457200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12. Who is </a:t>
            </a:r>
            <a:r>
              <a:rPr lang="en-US" b="1" dirty="0" err="1"/>
              <a:t>Poonam’s</a:t>
            </a:r>
            <a:r>
              <a:rPr lang="en-US" b="1" dirty="0"/>
              <a:t> boyfriend?</a:t>
            </a:r>
          </a:p>
          <a:p>
            <a:pPr marL="457200" indent="-457200">
              <a:buAutoNum type="alphaLcParenBoth"/>
            </a:pPr>
            <a:r>
              <a:rPr lang="en-US" b="1" dirty="0"/>
              <a:t>Ashok		</a:t>
            </a:r>
            <a:r>
              <a:rPr lang="en-US" b="1" dirty="0">
                <a:solidFill>
                  <a:srgbClr val="FF0000"/>
                </a:solidFill>
              </a:rPr>
              <a:t>(b) </a:t>
            </a:r>
            <a:r>
              <a:rPr lang="en-US" b="1" dirty="0" err="1">
                <a:solidFill>
                  <a:srgbClr val="FF0000"/>
                </a:solidFill>
              </a:rPr>
              <a:t>Ved</a:t>
            </a:r>
            <a:r>
              <a:rPr lang="en-US" b="1" dirty="0"/>
              <a:t>		(c) </a:t>
            </a:r>
            <a:r>
              <a:rPr lang="en-US" b="1" dirty="0" err="1"/>
              <a:t>Prem</a:t>
            </a:r>
            <a:r>
              <a:rPr lang="en-US" b="1" dirty="0"/>
              <a:t>		(d) Raj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>
              <a:buNone/>
            </a:pPr>
            <a:r>
              <a:rPr lang="en-US" b="1" dirty="0"/>
              <a:t>Q 13. Who does not like </a:t>
            </a:r>
            <a:r>
              <a:rPr lang="en-US" b="1" dirty="0" err="1"/>
              <a:t>Sushma</a:t>
            </a:r>
            <a:r>
              <a:rPr lang="en-US" b="1" dirty="0"/>
              <a:t> and </a:t>
            </a:r>
            <a:r>
              <a:rPr lang="en-US" b="1" dirty="0" err="1"/>
              <a:t>Vimla</a:t>
            </a:r>
            <a:r>
              <a:rPr lang="en-US" b="1" dirty="0"/>
              <a:t>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(a) </a:t>
            </a:r>
            <a:r>
              <a:rPr lang="en-US" b="1" dirty="0" err="1">
                <a:solidFill>
                  <a:srgbClr val="FF0000"/>
                </a:solidFill>
              </a:rPr>
              <a:t>Poonam</a:t>
            </a:r>
            <a:r>
              <a:rPr lang="en-US" b="1" dirty="0"/>
              <a:t>		(b) Raj		(c) Ashok		(d)</a:t>
            </a:r>
            <a:r>
              <a:rPr lang="en-US" b="1" dirty="0" err="1"/>
              <a:t>Ved</a:t>
            </a:r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29587"/>
            <a:ext cx="11733048" cy="57869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PUZZLE TEST(EXERCISE: A)</a:t>
            </a:r>
          </a:p>
          <a:p>
            <a:pPr>
              <a:buNone/>
            </a:pPr>
            <a:r>
              <a:rPr lang="en-US" b="1" dirty="0"/>
              <a:t> Questions : Read the following information carefully and answer the questions given below:</a:t>
            </a:r>
          </a:p>
          <a:p>
            <a:pPr>
              <a:buNone/>
            </a:pP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 There are five types of cards viz. A, B, C, D and E. there are three cards of each type. These are to be inserted in envelopes of three </a:t>
            </a:r>
            <a:r>
              <a:rPr lang="en-US" b="1" dirty="0" err="1"/>
              <a:t>colours</a:t>
            </a:r>
            <a:r>
              <a:rPr lang="en-US" b="1" dirty="0"/>
              <a:t> – Red, Yellow and Brown. There are five envelopes of each </a:t>
            </a:r>
            <a:r>
              <a:rPr lang="en-US" b="1" dirty="0" err="1"/>
              <a:t>colour</a:t>
            </a:r>
            <a:r>
              <a:rPr lang="en-US" b="1" dirty="0"/>
              <a:t>.</a:t>
            </a:r>
          </a:p>
          <a:p>
            <a:pPr>
              <a:buNone/>
            </a:pPr>
            <a:r>
              <a:rPr lang="en-US" b="1" dirty="0"/>
              <a:t>(ii) B, D and E type cards are inserted in red envelopes. A, B and C type cards are to be inserted in yellow envelopes and C, D and E type cards are to be inserted in brown envelopes.</a:t>
            </a:r>
          </a:p>
          <a:p>
            <a:pPr>
              <a:buNone/>
            </a:pPr>
            <a:r>
              <a:rPr lang="en-US" b="1" dirty="0"/>
              <a:t>(iii) Two cards each of B and D type are inserted in red envelopes</a:t>
            </a:r>
            <a:r>
              <a:rPr lang="en-US" sz="2000" b="1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Q 14. </a:t>
            </a:r>
            <a:r>
              <a:rPr lang="en-US" b="1" dirty="0"/>
              <a:t>Which of the following combinations of types of cards and the number of cards and </a:t>
            </a:r>
            <a:r>
              <a:rPr lang="en-US" b="1" dirty="0" err="1"/>
              <a:t>colour</a:t>
            </a:r>
            <a:r>
              <a:rPr lang="en-US" b="1" dirty="0"/>
              <a:t> of envelope is definitely correct?</a:t>
            </a:r>
          </a:p>
          <a:p>
            <a:pPr>
              <a:buNone/>
            </a:pPr>
            <a:r>
              <a:rPr lang="en-US" b="1" dirty="0"/>
              <a:t>(a) A-2, B-2, C-1: Yellow                   (b) C-2, D-1, E-2: Brown</a:t>
            </a:r>
          </a:p>
          <a:p>
            <a:pPr>
              <a:buNone/>
            </a:pPr>
            <a:r>
              <a:rPr lang="en-US" b="1" dirty="0"/>
              <a:t>(c) C-1, D-2, E-2: Brown                   (d) B-2, D-2, A-1: Red         (e) None of these</a:t>
            </a:r>
          </a:p>
          <a:p>
            <a:pPr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15. Which of the following combinations of </a:t>
            </a:r>
            <a:r>
              <a:rPr lang="en-US" b="1" dirty="0" err="1"/>
              <a:t>colour</a:t>
            </a:r>
            <a:r>
              <a:rPr lang="en-US" b="1" dirty="0"/>
              <a:t> of the envelope and the number of cards is definitely correct in respect of E-type cards?</a:t>
            </a:r>
          </a:p>
          <a:p>
            <a:pPr>
              <a:buNone/>
            </a:pPr>
            <a:r>
              <a:rPr lang="en-US" b="1" dirty="0"/>
              <a:t>(a) Red – 1, Yellow – 2                      (b) Yellow – 1, Brown – 2   </a:t>
            </a:r>
          </a:p>
          <a:p>
            <a:pPr>
              <a:buNone/>
            </a:pPr>
            <a:r>
              <a:rPr lang="en-US" b="1" dirty="0"/>
              <a:t>(c) Red – 2, Brown – 1                      (d) Red – 2, Yellow – 1        (e) None of these</a:t>
            </a:r>
          </a:p>
          <a:p>
            <a:pPr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16. Which of the following combinations of types of cards and the number of cards is definitely correct in respect of yellow </a:t>
            </a:r>
            <a:r>
              <a:rPr lang="en-US" b="1" dirty="0" err="1"/>
              <a:t>coloured</a:t>
            </a:r>
            <a:r>
              <a:rPr lang="en-US" b="1" dirty="0"/>
              <a:t> envelopes?</a:t>
            </a:r>
          </a:p>
          <a:p>
            <a:pPr>
              <a:buNone/>
            </a:pPr>
            <a:r>
              <a:rPr lang="en-US" b="1" dirty="0"/>
              <a:t>(a) A – 2, E – 1, D – 2                       (b) A – 2, B – 1, C – 2       </a:t>
            </a:r>
          </a:p>
          <a:p>
            <a:pPr>
              <a:buNone/>
            </a:pPr>
            <a:r>
              <a:rPr lang="en-US" b="1" dirty="0"/>
              <a:t>(c) A – 3, B – 1, C – 1                       (d) B – 1, C – 2, D – 2        (e) None of these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14597"/>
            <a:ext cx="11733048" cy="580196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Q 14. </a:t>
            </a:r>
            <a:r>
              <a:rPr lang="en-US" b="1" dirty="0"/>
              <a:t>Which of the following combinations of types of cards and the number of cards and </a:t>
            </a:r>
            <a:r>
              <a:rPr lang="en-US" b="1" dirty="0" err="1"/>
              <a:t>colour</a:t>
            </a:r>
            <a:r>
              <a:rPr lang="en-US" b="1" dirty="0"/>
              <a:t> of envelope is definitely correct?</a:t>
            </a:r>
          </a:p>
          <a:p>
            <a:pPr>
              <a:buNone/>
            </a:pPr>
            <a:r>
              <a:rPr lang="en-US" b="1" dirty="0"/>
              <a:t>(a) A-2, B-2, C-1: Yellow                   </a:t>
            </a:r>
            <a:r>
              <a:rPr lang="en-US" b="1" dirty="0">
                <a:solidFill>
                  <a:srgbClr val="FF0000"/>
                </a:solidFill>
              </a:rPr>
              <a:t>(b) C-2, D-1, E-2: Brown</a:t>
            </a:r>
          </a:p>
          <a:p>
            <a:pPr>
              <a:buNone/>
            </a:pPr>
            <a:r>
              <a:rPr lang="en-US" b="1" dirty="0"/>
              <a:t>(c) C-1, D-2, E-2: Brown                   (d) B-2, D-2, A-1: Red         (e) None of these</a:t>
            </a:r>
          </a:p>
          <a:p>
            <a:pPr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15. Which of the following combinations of </a:t>
            </a:r>
            <a:r>
              <a:rPr lang="en-US" b="1" dirty="0" err="1"/>
              <a:t>colour</a:t>
            </a:r>
            <a:r>
              <a:rPr lang="en-US" b="1" dirty="0"/>
              <a:t> of the envelope and the number of cards is definitely correct in respect of E-type cards?</a:t>
            </a:r>
          </a:p>
          <a:p>
            <a:pPr>
              <a:buNone/>
            </a:pPr>
            <a:r>
              <a:rPr lang="en-US" b="1" dirty="0"/>
              <a:t>(a) Red – 1, Yellow – 2                      (b) Yellow – 1, Brown – 2   </a:t>
            </a:r>
          </a:p>
          <a:p>
            <a:pPr>
              <a:buNone/>
            </a:pPr>
            <a:r>
              <a:rPr lang="en-US" b="1" dirty="0"/>
              <a:t>(c) Red – 2, Brown – 1                      (d) Red – 2, Yellow – 1       </a:t>
            </a:r>
            <a:r>
              <a:rPr lang="en-US" b="1" dirty="0">
                <a:solidFill>
                  <a:srgbClr val="FF0000"/>
                </a:solidFill>
              </a:rPr>
              <a:t> (e) None of these</a:t>
            </a:r>
          </a:p>
          <a:p>
            <a:pPr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16. Which of the following combinations of types of cards and the number of cards is definitely correct in respect of yellow </a:t>
            </a:r>
            <a:r>
              <a:rPr lang="en-US" b="1" dirty="0" err="1"/>
              <a:t>coloured</a:t>
            </a:r>
            <a:r>
              <a:rPr lang="en-US" b="1" dirty="0"/>
              <a:t> envelopes?</a:t>
            </a:r>
          </a:p>
          <a:p>
            <a:pPr>
              <a:buNone/>
            </a:pPr>
            <a:r>
              <a:rPr lang="en-US" b="1" dirty="0"/>
              <a:t>(a) A – 2, E – 1, D – 2                       (b) A – 2, B – 1, C – 2       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(c) A – 3, B – 1, C – 1 </a:t>
            </a:r>
            <a:r>
              <a:rPr lang="en-US" b="1" dirty="0"/>
              <a:t>                      (d) B – 1, C – 2, D – 2        (e) None of these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704538"/>
            <a:ext cx="11733048" cy="5712028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9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PUZZLE TEST(EXERCISE: A)</a:t>
            </a:r>
          </a:p>
          <a:p>
            <a:pPr>
              <a:buNone/>
            </a:pPr>
            <a:r>
              <a:rPr lang="en-US" sz="9600" b="1" dirty="0"/>
              <a:t> Question 17: Three persons A, B and C wore shirts of black, blue and orange </a:t>
            </a:r>
            <a:r>
              <a:rPr lang="en-US" sz="9600" b="1" dirty="0" err="1"/>
              <a:t>colours</a:t>
            </a:r>
            <a:r>
              <a:rPr lang="en-US" sz="9600" b="1" dirty="0"/>
              <a:t> (not necessarily in that order) and pants of green, yellow and orange </a:t>
            </a:r>
            <a:r>
              <a:rPr lang="en-US" sz="9600" b="1" dirty="0" err="1"/>
              <a:t>colours</a:t>
            </a:r>
            <a:r>
              <a:rPr lang="en-US" sz="9600" b="1" dirty="0"/>
              <a:t> (not necessarily in that order). No person wore pant and shirt of the same </a:t>
            </a:r>
            <a:r>
              <a:rPr lang="en-US" sz="9600" b="1" dirty="0" err="1"/>
              <a:t>colour</a:t>
            </a:r>
            <a:r>
              <a:rPr lang="en-US" sz="9600" b="1" dirty="0"/>
              <a:t>. Further, it is given that</a:t>
            </a:r>
          </a:p>
          <a:p>
            <a:pPr>
              <a:buNone/>
            </a:pPr>
            <a:r>
              <a:rPr lang="en-US" sz="9600" b="1" dirty="0"/>
              <a:t>1. A did not wear shirt of black </a:t>
            </a:r>
            <a:r>
              <a:rPr lang="en-US" sz="9600" b="1" dirty="0" err="1"/>
              <a:t>colour</a:t>
            </a:r>
            <a:r>
              <a:rPr lang="en-US" sz="9600" b="1" dirty="0"/>
              <a:t>.</a:t>
            </a:r>
          </a:p>
          <a:p>
            <a:pPr>
              <a:buNone/>
            </a:pPr>
            <a:r>
              <a:rPr lang="en-US" sz="9600" b="1" dirty="0"/>
              <a:t>2. B did not wear shirt of blue </a:t>
            </a:r>
            <a:r>
              <a:rPr lang="en-US" sz="9600" b="1" dirty="0" err="1"/>
              <a:t>colour</a:t>
            </a:r>
            <a:r>
              <a:rPr lang="en-US" sz="9600" b="1" dirty="0"/>
              <a:t>..</a:t>
            </a:r>
          </a:p>
          <a:p>
            <a:pPr>
              <a:buNone/>
            </a:pPr>
            <a:r>
              <a:rPr lang="en-US" sz="9600" b="1" dirty="0"/>
              <a:t>3. C did not wear shirt of orange </a:t>
            </a:r>
            <a:r>
              <a:rPr lang="en-US" sz="9600" b="1" dirty="0" err="1"/>
              <a:t>colour</a:t>
            </a:r>
            <a:r>
              <a:rPr lang="en-US" sz="9600" b="1" dirty="0"/>
              <a:t>.</a:t>
            </a:r>
          </a:p>
          <a:p>
            <a:pPr>
              <a:buNone/>
            </a:pPr>
            <a:r>
              <a:rPr lang="en-US" sz="9600" b="1" dirty="0"/>
              <a:t>4. A did not wear pant of green </a:t>
            </a:r>
            <a:r>
              <a:rPr lang="en-US" sz="9600" b="1" dirty="0" err="1"/>
              <a:t>colour</a:t>
            </a:r>
            <a:r>
              <a:rPr lang="en-US" sz="9600" b="1" dirty="0"/>
              <a:t>.</a:t>
            </a:r>
          </a:p>
          <a:p>
            <a:pPr>
              <a:buNone/>
            </a:pPr>
            <a:r>
              <a:rPr lang="en-US" sz="9600" b="1" dirty="0"/>
              <a:t>5. B wore pant of orange </a:t>
            </a:r>
            <a:r>
              <a:rPr lang="en-US" sz="9600" b="1" dirty="0" err="1"/>
              <a:t>colour</a:t>
            </a:r>
            <a:r>
              <a:rPr lang="en-US" sz="9600" b="1" dirty="0"/>
              <a:t>.</a:t>
            </a:r>
          </a:p>
          <a:p>
            <a:pPr lvl="0">
              <a:buNone/>
            </a:pPr>
            <a:r>
              <a:rPr lang="en-US" sz="9600" b="1" dirty="0"/>
              <a:t>What were the </a:t>
            </a:r>
            <a:r>
              <a:rPr lang="en-US" sz="9600" b="1" dirty="0" err="1"/>
              <a:t>colours</a:t>
            </a:r>
            <a:r>
              <a:rPr lang="en-US" sz="9600" b="1" dirty="0"/>
              <a:t> of pant and shirt worn by C, respectively?</a:t>
            </a:r>
          </a:p>
          <a:p>
            <a:pPr marL="457200" indent="-457200">
              <a:buNone/>
            </a:pPr>
            <a:r>
              <a:rPr lang="en-US" sz="9600" b="1" dirty="0"/>
              <a:t>(a) Yellow and Black                          </a:t>
            </a:r>
          </a:p>
          <a:p>
            <a:pPr marL="457200" indent="-457200">
              <a:buNone/>
            </a:pPr>
            <a:r>
              <a:rPr lang="en-US" sz="9600" b="1" dirty="0"/>
              <a:t>(b) Yellow and Blue</a:t>
            </a:r>
          </a:p>
          <a:p>
            <a:pPr>
              <a:buNone/>
            </a:pPr>
            <a:r>
              <a:rPr lang="en-US" sz="9600" b="1" dirty="0"/>
              <a:t>(c) Green and Blue                            </a:t>
            </a:r>
          </a:p>
          <a:p>
            <a:pPr>
              <a:buNone/>
            </a:pPr>
            <a:r>
              <a:rPr lang="en-US" sz="9600" b="1" dirty="0"/>
              <a:t>(d) Orange and Black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704539"/>
            <a:ext cx="11733048" cy="5712028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9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PUZZLE TEST(EXERCISE: A)</a:t>
            </a:r>
          </a:p>
          <a:p>
            <a:pPr>
              <a:buNone/>
            </a:pPr>
            <a:r>
              <a:rPr lang="en-US" sz="9600" b="1" dirty="0"/>
              <a:t> Question 17: Three persons A, B and C wore shirts of black, blue and orange </a:t>
            </a:r>
            <a:r>
              <a:rPr lang="en-US" sz="9600" b="1" dirty="0" err="1"/>
              <a:t>colours</a:t>
            </a:r>
            <a:r>
              <a:rPr lang="en-US" sz="9600" b="1" dirty="0"/>
              <a:t> (not necessarily in that order) and pants of green, yellow and orange </a:t>
            </a:r>
            <a:r>
              <a:rPr lang="en-US" sz="9600" b="1" dirty="0" err="1"/>
              <a:t>colours</a:t>
            </a:r>
            <a:r>
              <a:rPr lang="en-US" sz="9600" b="1" dirty="0"/>
              <a:t> (not necessarily in that order). No person wore pant and shirt of the same </a:t>
            </a:r>
            <a:r>
              <a:rPr lang="en-US" sz="9600" b="1" dirty="0" err="1"/>
              <a:t>colour</a:t>
            </a:r>
            <a:r>
              <a:rPr lang="en-US" sz="9600" b="1" dirty="0"/>
              <a:t>. Further, it is given that</a:t>
            </a:r>
          </a:p>
          <a:p>
            <a:pPr>
              <a:buNone/>
            </a:pPr>
            <a:r>
              <a:rPr lang="en-US" sz="9600" b="1" dirty="0"/>
              <a:t>1. A did not wear shirt of black </a:t>
            </a:r>
            <a:r>
              <a:rPr lang="en-US" sz="9600" b="1" dirty="0" err="1"/>
              <a:t>colour</a:t>
            </a:r>
            <a:r>
              <a:rPr lang="en-US" sz="9600" b="1" dirty="0"/>
              <a:t>.</a:t>
            </a:r>
          </a:p>
          <a:p>
            <a:pPr>
              <a:buNone/>
            </a:pPr>
            <a:r>
              <a:rPr lang="en-US" sz="9600" b="1" dirty="0"/>
              <a:t>2. B did not wear shirt of blue </a:t>
            </a:r>
            <a:r>
              <a:rPr lang="en-US" sz="9600" b="1" dirty="0" err="1"/>
              <a:t>colour</a:t>
            </a:r>
            <a:r>
              <a:rPr lang="en-US" sz="9600" b="1" dirty="0"/>
              <a:t>..</a:t>
            </a:r>
          </a:p>
          <a:p>
            <a:pPr>
              <a:buNone/>
            </a:pPr>
            <a:r>
              <a:rPr lang="en-US" sz="9600" b="1" dirty="0"/>
              <a:t>3. C did not wear shirt of orange </a:t>
            </a:r>
            <a:r>
              <a:rPr lang="en-US" sz="9600" b="1" dirty="0" err="1"/>
              <a:t>colour</a:t>
            </a:r>
            <a:r>
              <a:rPr lang="en-US" sz="9600" b="1" dirty="0"/>
              <a:t>.</a:t>
            </a:r>
          </a:p>
          <a:p>
            <a:pPr>
              <a:buNone/>
            </a:pPr>
            <a:r>
              <a:rPr lang="en-US" sz="9600" b="1" dirty="0"/>
              <a:t>4. A did not wear pant of green </a:t>
            </a:r>
            <a:r>
              <a:rPr lang="en-US" sz="9600" b="1" dirty="0" err="1"/>
              <a:t>colour</a:t>
            </a:r>
            <a:r>
              <a:rPr lang="en-US" sz="9600" b="1" dirty="0"/>
              <a:t>.</a:t>
            </a:r>
          </a:p>
          <a:p>
            <a:pPr>
              <a:buNone/>
            </a:pPr>
            <a:r>
              <a:rPr lang="en-US" sz="9600" b="1" dirty="0"/>
              <a:t>5. B wore pant of orange </a:t>
            </a:r>
            <a:r>
              <a:rPr lang="en-US" sz="9600" b="1" dirty="0" err="1"/>
              <a:t>colour</a:t>
            </a:r>
            <a:r>
              <a:rPr lang="en-US" sz="9600" b="1" dirty="0"/>
              <a:t>.</a:t>
            </a:r>
          </a:p>
          <a:p>
            <a:pPr lvl="0">
              <a:buNone/>
            </a:pPr>
            <a:r>
              <a:rPr lang="en-US" sz="9600" b="1" dirty="0"/>
              <a:t>What were the </a:t>
            </a:r>
            <a:r>
              <a:rPr lang="en-US" sz="9600" b="1" dirty="0" err="1"/>
              <a:t>colours</a:t>
            </a:r>
            <a:r>
              <a:rPr lang="en-US" sz="9600" b="1" dirty="0"/>
              <a:t> of pant and shirt worn by C, respectively?</a:t>
            </a:r>
          </a:p>
          <a:p>
            <a:pPr marL="457200" indent="-457200">
              <a:buNone/>
            </a:pPr>
            <a:r>
              <a:rPr lang="en-US" sz="9600" b="1" dirty="0"/>
              <a:t>(a) Yellow and Black                          </a:t>
            </a:r>
          </a:p>
          <a:p>
            <a:pPr marL="457200" indent="-457200">
              <a:buNone/>
            </a:pPr>
            <a:r>
              <a:rPr lang="en-US" sz="9600" b="1" dirty="0"/>
              <a:t>(b) Yellow and Blue</a:t>
            </a:r>
          </a:p>
          <a:p>
            <a:pPr>
              <a:buNone/>
            </a:pPr>
            <a:r>
              <a:rPr lang="en-US" sz="9600" b="1" dirty="0">
                <a:solidFill>
                  <a:srgbClr val="FF0000"/>
                </a:solidFill>
              </a:rPr>
              <a:t>(c) Green and Blue</a:t>
            </a:r>
            <a:r>
              <a:rPr lang="en-US" sz="9600" b="1" dirty="0"/>
              <a:t>                            </a:t>
            </a:r>
          </a:p>
          <a:p>
            <a:pPr>
              <a:buNone/>
            </a:pPr>
            <a:r>
              <a:rPr lang="en-US" sz="9600" b="1" dirty="0"/>
              <a:t>(d) Orange and Black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704539"/>
            <a:ext cx="11733048" cy="57120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sz="1800" b="1" dirty="0"/>
              <a:t> 	</a:t>
            </a:r>
            <a:r>
              <a:rPr lang="en-US" b="1" dirty="0"/>
              <a:t>Questions: Seven boys A, D, Y, U, P, Q and J live in three different buildings- </a:t>
            </a:r>
            <a:r>
              <a:rPr lang="en-US" b="1" dirty="0" err="1"/>
              <a:t>Ashiana</a:t>
            </a:r>
            <a:r>
              <a:rPr lang="en-US" b="1" dirty="0"/>
              <a:t>, Top-view and Ridge. Each of them is flying kites of different </a:t>
            </a:r>
            <a:r>
              <a:rPr lang="en-US" b="1" dirty="0" err="1"/>
              <a:t>colours</a:t>
            </a:r>
            <a:r>
              <a:rPr lang="en-US" b="1" dirty="0"/>
              <a:t> i.e. red, green, blue, white, black, yellow and pink, not necessarily in that order. Not more than three or less than two stay in any of the buildings. Q is flying a pink kite and lives in the same building as only J. </a:t>
            </a:r>
            <a:r>
              <a:rPr lang="en-US" b="1" dirty="0" err="1"/>
              <a:t>i.e</a:t>
            </a:r>
            <a:r>
              <a:rPr lang="en-US" b="1" dirty="0"/>
              <a:t> </a:t>
            </a:r>
            <a:r>
              <a:rPr lang="en-US" b="1" dirty="0" err="1"/>
              <a:t>Ashiana</a:t>
            </a:r>
            <a:r>
              <a:rPr lang="en-US" b="1" dirty="0"/>
              <a:t>. Y is flying a black kite and does not live in Ridge building. U does not live in the same building as A or P and is flying a yellow </a:t>
            </a:r>
            <a:r>
              <a:rPr lang="en-US" b="1" dirty="0" err="1"/>
              <a:t>coloured</a:t>
            </a:r>
            <a:r>
              <a:rPr lang="en-US" b="1" dirty="0"/>
              <a:t> kite. D lives in Ridge building with only one more person and is flying a green kite. None in the Top-view building flies a white kite. P does not fly a blue kite.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44577"/>
            <a:ext cx="11733048" cy="577198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 18. Who live in Ridge building?</a:t>
            </a:r>
          </a:p>
          <a:p>
            <a:pPr marL="457200" indent="-457200">
              <a:buAutoNum type="alphaLcParenBoth"/>
            </a:pPr>
            <a:r>
              <a:rPr lang="en-US" b="1" dirty="0"/>
              <a:t>D, U        (b) D, A, P     (c) Y, A, P     (d) A, P                  	(e) None of these</a:t>
            </a:r>
          </a:p>
          <a:p>
            <a:pPr marL="457200" indent="-457200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19. Who is flying the blue kite?</a:t>
            </a:r>
          </a:p>
          <a:p>
            <a:pPr marL="457200" indent="-457200">
              <a:buAutoNum type="alphaLcParenBoth"/>
            </a:pPr>
            <a:r>
              <a:rPr lang="en-US" b="1" dirty="0"/>
              <a:t>A            (b) J               (c) P              (d) Data inadequate 	(e) None of these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>
              <a:buNone/>
            </a:pPr>
            <a:r>
              <a:rPr lang="en-US" b="1" dirty="0"/>
              <a:t>Q 20. Who flies the red kite?</a:t>
            </a:r>
          </a:p>
          <a:p>
            <a:pPr marL="457200" indent="-457200">
              <a:buAutoNum type="alphaLcParenBoth"/>
            </a:pPr>
            <a:r>
              <a:rPr lang="en-US" b="1" dirty="0"/>
              <a:t>A            (b) j                (c) P              (d) Data inadequate 	(e) None of these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>
              <a:buNone/>
            </a:pPr>
            <a:r>
              <a:rPr lang="en-US" b="1" dirty="0"/>
              <a:t>Q 21. Who stay in Top-view building?</a:t>
            </a:r>
          </a:p>
          <a:p>
            <a:pPr marL="457200" indent="-457200">
              <a:buAutoNum type="alphaLcParenBoth"/>
            </a:pPr>
            <a:r>
              <a:rPr lang="en-US" b="1" dirty="0"/>
              <a:t>Y,J,P      (b) A,P           (c) A,P,D        (d) Y,U,J                 	(e) None of these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>
              <a:buNone/>
            </a:pPr>
            <a:r>
              <a:rPr lang="en-US" b="1" dirty="0"/>
              <a:t>Q 22. What </a:t>
            </a:r>
            <a:r>
              <a:rPr lang="en-US" b="1" dirty="0" err="1"/>
              <a:t>coloured</a:t>
            </a:r>
            <a:r>
              <a:rPr lang="en-US" b="1" dirty="0"/>
              <a:t> kite is J flying?</a:t>
            </a:r>
          </a:p>
          <a:p>
            <a:pPr>
              <a:buNone/>
            </a:pPr>
            <a:r>
              <a:rPr lang="en-US" b="1" dirty="0"/>
              <a:t>(a) Blue       (b) White       (c) Black        (d) Data inadequate 	(e) None of these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74557"/>
            <a:ext cx="11733048" cy="574200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 18. Who live in Ridge building?</a:t>
            </a:r>
          </a:p>
          <a:p>
            <a:pPr marL="45720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D, U</a:t>
            </a:r>
            <a:r>
              <a:rPr lang="en-US" b="1" dirty="0"/>
              <a:t>        (b) D, A, P     (c) Y, A, P     (d) A, P                  	(e) None of these</a:t>
            </a:r>
          </a:p>
          <a:p>
            <a:pPr marL="457200" indent="-457200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19. Who is flying the blue kite?</a:t>
            </a:r>
          </a:p>
          <a:p>
            <a:pPr marL="45720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A </a:t>
            </a:r>
            <a:r>
              <a:rPr lang="en-US" b="1" dirty="0"/>
              <a:t>           (b) J               (c) P              (d) Data inadequate 	(e) None of these</a:t>
            </a:r>
          </a:p>
          <a:p>
            <a:pPr marL="0" indent="0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20. Who flies the red kite?</a:t>
            </a:r>
          </a:p>
          <a:p>
            <a:pPr marL="457200" indent="-457200">
              <a:buAutoNum type="alphaLcParenBoth"/>
            </a:pPr>
            <a:r>
              <a:rPr lang="en-US" b="1" dirty="0"/>
              <a:t>A            (b) j            </a:t>
            </a:r>
            <a:r>
              <a:rPr lang="en-US" b="1" dirty="0">
                <a:solidFill>
                  <a:srgbClr val="FF0000"/>
                </a:solidFill>
              </a:rPr>
              <a:t>    (c) P </a:t>
            </a:r>
            <a:r>
              <a:rPr lang="en-US" b="1" dirty="0"/>
              <a:t>             (d) Data inadequate 	(e) None of these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>
              <a:buNone/>
            </a:pPr>
            <a:r>
              <a:rPr lang="en-US" b="1" dirty="0"/>
              <a:t>Q 21. Who stay in Top-view building?</a:t>
            </a:r>
          </a:p>
          <a:p>
            <a:pPr marL="457200" indent="-457200">
              <a:buAutoNum type="alphaLcParenBoth"/>
            </a:pPr>
            <a:r>
              <a:rPr lang="en-US" b="1" dirty="0"/>
              <a:t>Y,J,P      (b) A,P           (c) A,P,D        (d) Y,U,J                 </a:t>
            </a:r>
            <a:r>
              <a:rPr lang="en-US" b="1" dirty="0">
                <a:solidFill>
                  <a:srgbClr val="FF0000"/>
                </a:solidFill>
              </a:rPr>
              <a:t>	(e) None of these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>
              <a:buNone/>
            </a:pPr>
            <a:r>
              <a:rPr lang="en-US" b="1" dirty="0"/>
              <a:t>Q 22. What </a:t>
            </a:r>
            <a:r>
              <a:rPr lang="en-US" b="1" dirty="0" err="1"/>
              <a:t>coloured</a:t>
            </a:r>
            <a:r>
              <a:rPr lang="en-US" b="1" dirty="0"/>
              <a:t> kite is J flying?</a:t>
            </a:r>
          </a:p>
          <a:p>
            <a:pPr>
              <a:buNone/>
            </a:pPr>
            <a:r>
              <a:rPr lang="en-US" b="1" dirty="0"/>
              <a:t>(a) Blue    </a:t>
            </a:r>
            <a:r>
              <a:rPr lang="en-US" b="1" dirty="0">
                <a:solidFill>
                  <a:srgbClr val="FF0000"/>
                </a:solidFill>
              </a:rPr>
              <a:t>   (b) White</a:t>
            </a:r>
            <a:r>
              <a:rPr lang="en-US" b="1" dirty="0"/>
              <a:t>       (c) Black        (d) Data inadequate 	(e) None of these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Questions (23 to 27): Read the following information carefully and answer the questions given below:</a:t>
            </a:r>
          </a:p>
          <a:p>
            <a:pPr>
              <a:buNone/>
            </a:pP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  There is a group of five persons- A, B, C, D and E.</a:t>
            </a:r>
          </a:p>
          <a:p>
            <a:pPr>
              <a:buNone/>
            </a:pPr>
            <a:r>
              <a:rPr lang="en-US" b="1" dirty="0"/>
              <a:t>(ii) One of them is horticulturist, one is physicist, one is a journalist, one is an industrialist and one is an advocate.</a:t>
            </a:r>
          </a:p>
          <a:p>
            <a:pPr>
              <a:buNone/>
            </a:pPr>
            <a:r>
              <a:rPr lang="en-US" b="1" dirty="0"/>
              <a:t>(iii) Three of them – A, C and advocate prefer tea to coffee and two of them- B and the journalist prefer coffee to tea.</a:t>
            </a:r>
          </a:p>
          <a:p>
            <a:pPr>
              <a:buNone/>
            </a:pPr>
            <a:r>
              <a:rPr lang="en-US" b="1" dirty="0"/>
              <a:t>(iv)  The industrialist and D and A are friends to one another but two of them prefer coffee to tea.</a:t>
            </a:r>
          </a:p>
          <a:p>
            <a:pPr>
              <a:buNone/>
            </a:pPr>
            <a:r>
              <a:rPr lang="en-US" b="1" dirty="0"/>
              <a:t>(v)   The horticulturist is C’s brother.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476" y="644578"/>
            <a:ext cx="11733048" cy="587692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 lvl="0">
              <a:buNone/>
            </a:pPr>
            <a:r>
              <a:rPr lang="en-US" sz="1800" b="1" dirty="0"/>
              <a:t> </a:t>
            </a:r>
            <a:r>
              <a:rPr lang="en-US" b="1" dirty="0"/>
              <a:t>Q 23. Who is the horticulturist?</a:t>
            </a:r>
          </a:p>
          <a:p>
            <a:pPr marL="457200" indent="-457200">
              <a:buAutoNum type="alphaLcParenBoth"/>
            </a:pPr>
            <a:r>
              <a:rPr lang="en-US" b="1" dirty="0"/>
              <a:t>A                (b) B                (c) C                (d) D              (e) E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24. Who is the industrialist?</a:t>
            </a:r>
          </a:p>
          <a:p>
            <a:pPr marL="457200" indent="-457200">
              <a:buAutoNum type="alphaLcParenBoth"/>
            </a:pPr>
            <a:r>
              <a:rPr lang="en-US" b="1" dirty="0"/>
              <a:t>E                (b) C                (c) B                (d) A               (e) D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25. Which of the following groups includes a person who likes tea but is not an advocate?</a:t>
            </a:r>
          </a:p>
          <a:p>
            <a:pPr marL="457200" indent="-457200">
              <a:buAutoNum type="alphaLcParenBoth"/>
            </a:pPr>
            <a:r>
              <a:rPr lang="en-US" b="1" dirty="0"/>
              <a:t>ACE           (b) DE             (c) BCE           (d) BD             (e) None of these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26. Who is a physicist?</a:t>
            </a:r>
          </a:p>
          <a:p>
            <a:pPr marL="457200" indent="-457200">
              <a:buAutoNum type="alphaLcParenBoth"/>
            </a:pPr>
            <a:r>
              <a:rPr lang="en-US" b="1" dirty="0"/>
              <a:t>A                (b) E                (c) D                (d) C                (e) B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27. Which of the statements given above is superfluous?</a:t>
            </a:r>
          </a:p>
          <a:p>
            <a:pPr>
              <a:buNone/>
            </a:pPr>
            <a:r>
              <a:rPr lang="en-US" b="1" dirty="0"/>
              <a:t>(a) (iii)             (b) (iv)             (c) (ii)              (d) (v)              (e) 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A)</a:t>
            </a:r>
          </a:p>
          <a:p>
            <a:pPr lvl="0">
              <a:buNone/>
            </a:pPr>
            <a:r>
              <a:rPr lang="en-US" sz="1800" b="1" dirty="0"/>
              <a:t> </a:t>
            </a:r>
            <a:r>
              <a:rPr lang="en-US" b="1" dirty="0"/>
              <a:t>Q 23. Who is the horticulturist?</a:t>
            </a:r>
          </a:p>
          <a:p>
            <a:pPr marL="45720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A  </a:t>
            </a:r>
            <a:r>
              <a:rPr lang="en-US" b="1" dirty="0"/>
              <a:t>              (b) B                (c) C                (d) D              (e) E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24. Who is the industrialist?</a:t>
            </a:r>
          </a:p>
          <a:p>
            <a:pPr marL="457200" indent="-457200">
              <a:buAutoNum type="alphaLcParenBoth"/>
            </a:pPr>
            <a:r>
              <a:rPr lang="en-US" b="1" dirty="0"/>
              <a:t>E                (b) C              </a:t>
            </a:r>
            <a:r>
              <a:rPr lang="en-US" b="1" dirty="0">
                <a:solidFill>
                  <a:srgbClr val="FF0000"/>
                </a:solidFill>
              </a:rPr>
              <a:t>  (c) B </a:t>
            </a:r>
            <a:r>
              <a:rPr lang="en-US" b="1" dirty="0"/>
              <a:t>               (d) A               (e) D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25. Which of the following groups includes a person who likes tea but is not an advocate?</a:t>
            </a:r>
          </a:p>
          <a:p>
            <a:pPr marL="457200" indent="-457200">
              <a:buAutoNum type="alphaLcParenBoth"/>
            </a:pPr>
            <a:r>
              <a:rPr lang="en-US" b="1" dirty="0"/>
              <a:t>ACE           (b) DE             (c) BCE           (d) BD            </a:t>
            </a:r>
            <a:r>
              <a:rPr lang="en-US" b="1" dirty="0">
                <a:solidFill>
                  <a:srgbClr val="FF0000"/>
                </a:solidFill>
              </a:rPr>
              <a:t> (e) None of these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26. Who is a physicist?</a:t>
            </a:r>
          </a:p>
          <a:p>
            <a:pPr marL="457200" indent="-457200">
              <a:buAutoNum type="alphaLcParenBoth"/>
            </a:pPr>
            <a:r>
              <a:rPr lang="en-US" b="1" dirty="0"/>
              <a:t>A                (b) E                (c) D             </a:t>
            </a:r>
            <a:r>
              <a:rPr lang="en-US" b="1" dirty="0">
                <a:solidFill>
                  <a:srgbClr val="FF0000"/>
                </a:solidFill>
              </a:rPr>
              <a:t>   (d) C </a:t>
            </a:r>
            <a:r>
              <a:rPr lang="en-US" b="1" dirty="0"/>
              <a:t>               (e) B</a:t>
            </a:r>
          </a:p>
          <a:p>
            <a:pPr marL="45720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27. Which of the statements given above is superfluous?</a:t>
            </a:r>
          </a:p>
          <a:p>
            <a:pPr>
              <a:buNone/>
            </a:pPr>
            <a:r>
              <a:rPr lang="en-US" b="1" dirty="0"/>
              <a:t>(a) (iii)             (b) (iv)             (c) (ii)              (d) (v)       </a:t>
            </a:r>
            <a:r>
              <a:rPr lang="en-US" b="1" dirty="0">
                <a:solidFill>
                  <a:srgbClr val="FF0000"/>
                </a:solidFill>
              </a:rPr>
              <a:t>       (e) 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06982" y="2369127"/>
            <a:ext cx="4996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FF0000"/>
                </a:solidFill>
                <a:latin typeface="Arial Black" pitchFamily="34" charset="0"/>
              </a:rPr>
              <a:t>THANK  YOU</a:t>
            </a:r>
            <a:endParaRPr lang="en-US" sz="4800" dirty="0">
              <a:solidFill>
                <a:srgbClr val="FF0000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1200</TotalTime>
  <Words>3313</Words>
  <Application>Microsoft Office PowerPoint</Application>
  <PresentationFormat>Widescreen</PresentationFormat>
  <Paragraphs>229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Harshit Singla</cp:lastModifiedBy>
  <cp:revision>185</cp:revision>
  <dcterms:created xsi:type="dcterms:W3CDTF">2020-02-23T06:37:57Z</dcterms:created>
  <dcterms:modified xsi:type="dcterms:W3CDTF">2025-01-12T10:55:18Z</dcterms:modified>
</cp:coreProperties>
</file>