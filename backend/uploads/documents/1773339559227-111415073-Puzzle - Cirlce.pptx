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21"/>
  </p:notesMasterIdLst>
  <p:sldIdLst>
    <p:sldId id="326" r:id="rId2"/>
    <p:sldId id="309" r:id="rId3"/>
    <p:sldId id="310" r:id="rId4"/>
    <p:sldId id="319" r:id="rId5"/>
    <p:sldId id="311" r:id="rId6"/>
    <p:sldId id="312" r:id="rId7"/>
    <p:sldId id="320" r:id="rId8"/>
    <p:sldId id="313" r:id="rId9"/>
    <p:sldId id="314" r:id="rId10"/>
    <p:sldId id="321" r:id="rId11"/>
    <p:sldId id="315" r:id="rId12"/>
    <p:sldId id="316" r:id="rId13"/>
    <p:sldId id="322" r:id="rId14"/>
    <p:sldId id="317" r:id="rId15"/>
    <p:sldId id="318" r:id="rId16"/>
    <p:sldId id="324" r:id="rId17"/>
    <p:sldId id="323" r:id="rId18"/>
    <p:sldId id="327" r:id="rId19"/>
    <p:sldId id="32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8EFC"/>
    <a:srgbClr val="FE6400"/>
    <a:srgbClr val="B0D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91" autoAdjust="0"/>
    <p:restoredTop sz="94624" autoAdjust="0"/>
  </p:normalViewPr>
  <p:slideViewPr>
    <p:cSldViewPr snapToGrid="0">
      <p:cViewPr varScale="1">
        <p:scale>
          <a:sx n="78" d="100"/>
          <a:sy n="78" d="100"/>
        </p:scale>
        <p:origin x="917" y="67"/>
      </p:cViewPr>
      <p:guideLst>
        <p:guide orient="horz" pos="2160"/>
        <p:guide pos="3840"/>
      </p:guideLst>
    </p:cSldViewPr>
  </p:slideViewPr>
  <p:notesTextViewPr>
    <p:cViewPr>
      <p:scale>
        <a:sx n="400" d="100"/>
        <a:sy n="4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01EA01-0F0C-4DE8-B813-35A3FC47D733}" type="datetimeFigureOut">
              <a:rPr lang="en-US" smtClean="0"/>
              <a:pPr/>
              <a:t>1/12/2025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E163DC-F9C0-4AEA-8660-BBA8B696315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D40EF-6373-CAC4-2A30-32B352F4BF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9DFD04-5044-BA64-EA53-7ED10FE793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5CFB31-E6AF-1EB2-7BBA-190B5E61C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824F-FEE6-4FA6-87FA-56806D70CA3A}" type="datetimeFigureOut">
              <a:rPr lang="en-IN" smtClean="0"/>
              <a:pPr/>
              <a:t>12-01-2025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79F3CC-7C23-0FBB-062F-2A5F177D9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53570-398C-6C55-9F39-90AAA2668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6634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BFC96-E2AA-7900-2659-073471562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D6C633-592C-D883-9BA9-3DE85BE349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BB3316-ACAB-6928-650A-7DE5D741C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1F504-294F-47B7-BD01-FB12B3CE513B}" type="datetimeFigureOut">
              <a:rPr lang="en-IN" smtClean="0"/>
              <a:t>12-01-2025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0B4DE9-208A-5A8C-E509-C3BFCB9DF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600754-0AEB-BD23-AE53-26259AE64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9A4F3-B4ED-4EC1-802A-334C1C3FE784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AAAE9D-24F9-4D1D-AD63-422CEC21C186}"/>
              </a:ext>
            </a:extLst>
          </p:cNvPr>
          <p:cNvSpPr/>
          <p:nvPr userDrawn="1"/>
        </p:nvSpPr>
        <p:spPr>
          <a:xfrm>
            <a:off x="4005792" y="1338792"/>
            <a:ext cx="4180416" cy="4180416"/>
          </a:xfrm>
          <a:prstGeom prst="rect">
            <a:avLst/>
          </a:prstGeom>
          <a:blipFill dpi="0" rotWithShape="1">
            <a:blip r:embed="rId2">
              <a:alphaModFix amt="1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8106C58B-642B-CF8E-99D8-501A62875D39}"/>
              </a:ext>
            </a:extLst>
          </p:cNvPr>
          <p:cNvSpPr/>
          <p:nvPr userDrawn="1"/>
        </p:nvSpPr>
        <p:spPr>
          <a:xfrm rot="10800000" flipH="1">
            <a:off x="5191124" y="6439955"/>
            <a:ext cx="6997050" cy="420957"/>
          </a:xfrm>
          <a:custGeom>
            <a:avLst/>
            <a:gdLst>
              <a:gd name="connsiteX0" fmla="*/ 274746 w 6997050"/>
              <a:gd name="connsiteY0" fmla="*/ 474402 h 474402"/>
              <a:gd name="connsiteX1" fmla="*/ 5454000 w 6997050"/>
              <a:gd name="connsiteY1" fmla="*/ 474402 h 474402"/>
              <a:gd name="connsiteX2" fmla="*/ 5454000 w 6997050"/>
              <a:gd name="connsiteY2" fmla="*/ 473606 h 474402"/>
              <a:gd name="connsiteX3" fmla="*/ 6997050 w 6997050"/>
              <a:gd name="connsiteY3" fmla="*/ 473606 h 474402"/>
              <a:gd name="connsiteX4" fmla="*/ 6997050 w 6997050"/>
              <a:gd name="connsiteY4" fmla="*/ 0 h 474402"/>
              <a:gd name="connsiteX5" fmla="*/ 5454000 w 6997050"/>
              <a:gd name="connsiteY5" fmla="*/ 0 h 474402"/>
              <a:gd name="connsiteX6" fmla="*/ 5454000 w 6997050"/>
              <a:gd name="connsiteY6" fmla="*/ 797 h 474402"/>
              <a:gd name="connsiteX7" fmla="*/ 0 w 6997050"/>
              <a:gd name="connsiteY7" fmla="*/ 797 h 474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997050" h="474402">
                <a:moveTo>
                  <a:pt x="274746" y="474402"/>
                </a:moveTo>
                <a:lnTo>
                  <a:pt x="5454000" y="474402"/>
                </a:lnTo>
                <a:lnTo>
                  <a:pt x="5454000" y="473606"/>
                </a:lnTo>
                <a:lnTo>
                  <a:pt x="6997050" y="473606"/>
                </a:lnTo>
                <a:lnTo>
                  <a:pt x="6997050" y="0"/>
                </a:lnTo>
                <a:lnTo>
                  <a:pt x="5454000" y="0"/>
                </a:lnTo>
                <a:lnTo>
                  <a:pt x="5454000" y="797"/>
                </a:lnTo>
                <a:lnTo>
                  <a:pt x="0" y="797"/>
                </a:lnTo>
                <a:close/>
              </a:path>
            </a:pathLst>
          </a:custGeom>
          <a:solidFill>
            <a:srgbClr val="108E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7637FBB-A25C-7158-DCF8-4886586A2152}"/>
              </a:ext>
            </a:extLst>
          </p:cNvPr>
          <p:cNvSpPr/>
          <p:nvPr userDrawn="1"/>
        </p:nvSpPr>
        <p:spPr>
          <a:xfrm>
            <a:off x="1" y="6439956"/>
            <a:ext cx="5490211" cy="418044"/>
          </a:xfrm>
          <a:custGeom>
            <a:avLst/>
            <a:gdLst>
              <a:gd name="connsiteX0" fmla="*/ 0 w 5490211"/>
              <a:gd name="connsiteY0" fmla="*/ 0 h 473605"/>
              <a:gd name="connsiteX1" fmla="*/ 5490211 w 5490211"/>
              <a:gd name="connsiteY1" fmla="*/ 0 h 473605"/>
              <a:gd name="connsiteX2" fmla="*/ 5215520 w 5490211"/>
              <a:gd name="connsiteY2" fmla="*/ 473605 h 473605"/>
              <a:gd name="connsiteX3" fmla="*/ 0 w 5490211"/>
              <a:gd name="connsiteY3" fmla="*/ 473605 h 473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90211" h="473605">
                <a:moveTo>
                  <a:pt x="0" y="0"/>
                </a:moveTo>
                <a:lnTo>
                  <a:pt x="5490211" y="0"/>
                </a:lnTo>
                <a:lnTo>
                  <a:pt x="5215520" y="473605"/>
                </a:lnTo>
                <a:lnTo>
                  <a:pt x="0" y="473605"/>
                </a:lnTo>
                <a:close/>
              </a:path>
            </a:pathLst>
          </a:custGeom>
          <a:solidFill>
            <a:srgbClr val="FE6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369840-B9EA-8026-D253-350ABB8D8357}"/>
              </a:ext>
            </a:extLst>
          </p:cNvPr>
          <p:cNvSpPr/>
          <p:nvPr userDrawn="1"/>
        </p:nvSpPr>
        <p:spPr>
          <a:xfrm>
            <a:off x="0" y="0"/>
            <a:ext cx="12192000" cy="1016000"/>
          </a:xfrm>
          <a:prstGeom prst="rect">
            <a:avLst/>
          </a:prstGeom>
          <a:gradFill flip="none" rotWithShape="1">
            <a:gsLst>
              <a:gs pos="0">
                <a:srgbClr val="FE6400"/>
              </a:gs>
              <a:gs pos="100000">
                <a:srgbClr val="108EFC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F96D06D2-4332-06F7-4748-7E4750692DEE}"/>
              </a:ext>
            </a:extLst>
          </p:cNvPr>
          <p:cNvSpPr txBox="1">
            <a:spLocks/>
          </p:cNvSpPr>
          <p:nvPr userDrawn="1"/>
        </p:nvSpPr>
        <p:spPr>
          <a:xfrm>
            <a:off x="355600" y="5683515"/>
            <a:ext cx="1158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638065-EE6E-CC34-73EB-4F17C7D7C52E}"/>
              </a:ext>
            </a:extLst>
          </p:cNvPr>
          <p:cNvSpPr txBox="1"/>
          <p:nvPr userDrawn="1"/>
        </p:nvSpPr>
        <p:spPr>
          <a:xfrm>
            <a:off x="1118954" y="6464312"/>
            <a:ext cx="3394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Aptitude Classes by Anuj Sir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7629F0-83DF-B395-5A15-52014F686B2C}"/>
              </a:ext>
            </a:extLst>
          </p:cNvPr>
          <p:cNvSpPr txBox="1"/>
          <p:nvPr userDrawn="1"/>
        </p:nvSpPr>
        <p:spPr>
          <a:xfrm>
            <a:off x="6252259" y="6464312"/>
            <a:ext cx="5634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For more tutorials Visit now www.testurprep.com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835AE63-FDBE-3D12-5F34-94F34D30B576}"/>
              </a:ext>
            </a:extLst>
          </p:cNvPr>
          <p:cNvSpPr/>
          <p:nvPr userDrawn="1"/>
        </p:nvSpPr>
        <p:spPr>
          <a:xfrm>
            <a:off x="158099" y="144860"/>
            <a:ext cx="727726" cy="727726"/>
          </a:xfrm>
          <a:prstGeom prst="ellipse">
            <a:avLst/>
          </a:prstGeom>
          <a:blipFill dpi="0" rotWithShape="1">
            <a:blip r:embed="rId3" cstate="print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BF9AB54-5CEB-4EBA-DAD4-6E43E96088FB}"/>
              </a:ext>
            </a:extLst>
          </p:cNvPr>
          <p:cNvSpPr/>
          <p:nvPr userDrawn="1"/>
        </p:nvSpPr>
        <p:spPr>
          <a:xfrm>
            <a:off x="11311874" y="144860"/>
            <a:ext cx="727726" cy="727726"/>
          </a:xfrm>
          <a:prstGeom prst="ellipse">
            <a:avLst/>
          </a:prstGeom>
          <a:blipFill dpi="0" rotWithShape="1">
            <a:blip r:embed="rId3" cstate="print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8918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1A4EA-9055-0E4B-B116-E898B5666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235CA7-B82A-0935-3DEE-095BBC5F58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F6DA32-1745-FB04-7AD1-C27C99754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824F-FEE6-4FA6-87FA-56806D70CA3A}" type="datetimeFigureOut">
              <a:rPr lang="en-IN" smtClean="0"/>
              <a:pPr/>
              <a:t>12-01-2025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2279D-8744-A889-C3D8-6F4998FC8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EB9CD2-67A6-54D8-DDEC-2C75E5645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6497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6C123-44D6-26BD-2449-FAE67C0F5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8917DC-2C0F-4989-6C81-50FA745B24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FFA52C-869F-6145-3482-8624D6FC11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7E380A-948A-6D43-3CA8-9ACFD6DB3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824F-FEE6-4FA6-87FA-56806D70CA3A}" type="datetimeFigureOut">
              <a:rPr lang="en-IN" smtClean="0"/>
              <a:pPr/>
              <a:t>12-01-2025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BD06CB-FB30-84C1-4C64-786EB4D82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926781-CD74-6CFE-DB1B-A5632FCFF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2064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D6C35-5BDC-7981-FDB3-83E51B9AF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CA0FEA-C5D3-C541-E730-31734912D0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B7469A-90CD-F8ED-794B-1F37A6D41B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CFAE14-3A97-69E1-E2A4-DE865626CB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089738-52C9-08D6-654B-1FFCB57E40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473861-1F38-9C9B-8796-FB05A307D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824F-FEE6-4FA6-87FA-56806D70CA3A}" type="datetimeFigureOut">
              <a:rPr lang="en-IN" smtClean="0"/>
              <a:pPr/>
              <a:t>12-01-2025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BA5529-8311-5AFF-E9DB-1353CEEA0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10AA0B-8DAC-F2FA-08D4-D59FFE70B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32509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0FD6C-93A8-BF63-E1A7-C02CC1242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37726A-2715-E591-21C5-E80FC09BF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824F-FEE6-4FA6-87FA-56806D70CA3A}" type="datetimeFigureOut">
              <a:rPr lang="en-IN" smtClean="0"/>
              <a:pPr/>
              <a:t>12-01-2025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6631F6-2AB3-77ED-0062-7CDC92BAA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BF91BE-60ED-30C8-5E41-A0197CE17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1542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A677C1-04F1-A1C8-1588-CE60C42E7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824F-FEE6-4FA6-87FA-56806D70CA3A}" type="datetimeFigureOut">
              <a:rPr lang="en-IN" smtClean="0"/>
              <a:pPr/>
              <a:t>12-01-2025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5242EB-0E53-E5D0-68FE-B1FDEB21F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47D025-BE2C-2476-9036-E117BCF95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2955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27FAC-296B-A806-8716-E2B6E829E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A6957A-1D4B-3BC6-DD9F-3675B80396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47D0B3-837D-61B5-F09D-13CC1EA2F6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4C48C4-7B64-746F-BF05-AB40712AB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824F-FEE6-4FA6-87FA-56806D70CA3A}" type="datetimeFigureOut">
              <a:rPr lang="en-IN" smtClean="0"/>
              <a:pPr/>
              <a:t>12-01-2025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00B47A-2CA6-65B1-5628-A8093207B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8BE1FA-6747-0710-13B2-02511B3F6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0205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651D5-B630-8644-642A-0366FF77F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C8D095-4EF6-E1F4-2362-9E59066516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10F97F-7530-4174-0B6D-F487974809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9696E2-56FF-7007-EE21-292DF4886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824F-FEE6-4FA6-87FA-56806D70CA3A}" type="datetimeFigureOut">
              <a:rPr lang="en-IN" smtClean="0"/>
              <a:pPr/>
              <a:t>12-01-2025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3CC95B-E223-72F5-D945-B08C8F833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FFCBE3-DA55-E7A7-04AD-745A739C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0338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A29A8-F985-C1B6-CAA0-53E63AF5A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6F1EBE-9676-BDBD-1D31-4E707D61AB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AA3529-709C-FB02-4E2F-66C43813F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824F-FEE6-4FA6-87FA-56806D70CA3A}" type="datetimeFigureOut">
              <a:rPr lang="en-IN" smtClean="0"/>
              <a:pPr/>
              <a:t>12-01-2025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B5443F-5A1B-E35C-348E-42F607D8C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089E9E-CFC6-18E0-8DAD-532FB70EF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9194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DA8304-D60D-B54F-1B15-FBC8059B20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173014-750D-34C4-9439-AA8D78DF8B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E8B54A-AA6E-1023-CB9B-E9FF7B8EC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824F-FEE6-4FA6-87FA-56806D70CA3A}" type="datetimeFigureOut">
              <a:rPr lang="en-IN" smtClean="0"/>
              <a:pPr/>
              <a:t>12-01-2025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AD3D07-83AD-FBA5-9F41-E6B9AE699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AF4790-5787-78AB-093A-B4AE65187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8663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0BFFDF-4778-F0DC-47CB-B3B3D8EFB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8162A6-FBF5-1EF1-D090-A21EA5056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6C903A-3411-7046-D797-BD99C6C3FB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F7824F-FEE6-4FA6-87FA-56806D70CA3A}" type="datetimeFigureOut">
              <a:rPr lang="en-IN" smtClean="0"/>
              <a:pPr/>
              <a:t>12-01-2025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376C04-9319-B396-8273-0B447E4923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AF4BE-9E67-4BF1-1813-1FAED1449F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1126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3044279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/>
              <a:t>PUZZLE TEST - CIRCLE</a:t>
            </a:r>
            <a:endParaRPr lang="en-US" sz="44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659567"/>
            <a:ext cx="11733048" cy="575699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PUZZLE TEST(</a:t>
            </a:r>
            <a:r>
              <a:rPr lang="en-US" sz="2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CIRCLE ARRANGEMENT</a:t>
            </a:r>
            <a:r>
              <a:rPr lang="en-US" b="1" dirty="0"/>
              <a:t>)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Arial Black" pitchFamily="34" charset="0"/>
            </a:endParaRPr>
          </a:p>
          <a:p>
            <a:pPr>
              <a:buNone/>
            </a:pPr>
            <a:r>
              <a:rPr lang="en-US" b="1" dirty="0"/>
              <a:t>Direction(1 to 5):- </a:t>
            </a:r>
            <a:r>
              <a:rPr lang="en-US" sz="1800" b="1" dirty="0"/>
              <a:t> </a:t>
            </a:r>
            <a:r>
              <a:rPr lang="en-US" b="1" dirty="0"/>
              <a:t>Read the following information to answer these questions.</a:t>
            </a:r>
          </a:p>
          <a:p>
            <a:pPr>
              <a:buNone/>
            </a:pPr>
            <a:r>
              <a:rPr lang="en-US" b="1" dirty="0"/>
              <a:t>(</a:t>
            </a:r>
            <a:r>
              <a:rPr lang="en-US" b="1" dirty="0" err="1"/>
              <a:t>i</a:t>
            </a:r>
            <a:r>
              <a:rPr lang="en-US" b="1" dirty="0"/>
              <a:t>) A, B, C, D, E, F and G are sitting in a circle facing at the centre and playing cards.</a:t>
            </a:r>
          </a:p>
          <a:p>
            <a:pPr>
              <a:buNone/>
            </a:pPr>
            <a:r>
              <a:rPr lang="en-US" b="1" dirty="0"/>
              <a:t>(ii) E is </a:t>
            </a:r>
            <a:r>
              <a:rPr lang="en-US" b="1" dirty="0" err="1"/>
              <a:t>neighbour</a:t>
            </a:r>
            <a:r>
              <a:rPr lang="en-US" b="1" dirty="0"/>
              <a:t> of A and D.</a:t>
            </a:r>
          </a:p>
          <a:p>
            <a:pPr>
              <a:buNone/>
            </a:pPr>
            <a:r>
              <a:rPr lang="en-US" b="1" dirty="0"/>
              <a:t>(iii) G is not between F and C.</a:t>
            </a:r>
          </a:p>
          <a:p>
            <a:pPr>
              <a:buNone/>
            </a:pPr>
            <a:r>
              <a:rPr lang="en-US" b="1" dirty="0"/>
              <a:t>(iv) F is to the immediate right of A.</a:t>
            </a:r>
          </a:p>
          <a:p>
            <a:pPr>
              <a:buNone/>
            </a:pPr>
            <a:r>
              <a:rPr lang="en-US" b="1" dirty="0"/>
              <a:t>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597"/>
            <a:ext cx="11938000" cy="580197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		</a:t>
            </a:r>
          </a:p>
          <a:p>
            <a:pPr>
              <a:buNone/>
            </a:pPr>
            <a:r>
              <a:rPr lang="en-US" sz="2000" b="1" dirty="0"/>
              <a:t> Q 1. Which of the following does not have the pair of persons sitting adjacent to each other?</a:t>
            </a:r>
          </a:p>
          <a:p>
            <a:pPr>
              <a:buNone/>
            </a:pPr>
            <a:r>
              <a:rPr lang="en-US" sz="2000" b="1" dirty="0"/>
              <a:t>A. BA		B. CB		C. DE		D. GD		</a:t>
            </a:r>
          </a:p>
          <a:p>
            <a:pPr>
              <a:buNone/>
            </a:pPr>
            <a:r>
              <a:rPr lang="en-US" sz="2000" b="1" dirty="0"/>
              <a:t>Q 2. Which of the following pairs has the 2nd person sitting immediately to the right of the 1st?</a:t>
            </a:r>
          </a:p>
          <a:p>
            <a:pPr>
              <a:buNone/>
            </a:pPr>
            <a:r>
              <a:rPr lang="en-US" sz="2000" b="1" dirty="0"/>
              <a:t>A. AB		B. CB		C. EA		D. DG</a:t>
            </a:r>
          </a:p>
          <a:p>
            <a:pPr>
              <a:buNone/>
            </a:pPr>
            <a:r>
              <a:rPr lang="en-US" sz="2000" b="1" dirty="0"/>
              <a:t>Q 3. What is the position of F?</a:t>
            </a:r>
          </a:p>
          <a:p>
            <a:pPr marL="457200" indent="-457200">
              <a:buNone/>
            </a:pPr>
            <a:r>
              <a:rPr lang="en-US" sz="2000" b="1" dirty="0"/>
              <a:t>A. 3rd to the left of C		B. 2nd to the right of C		</a:t>
            </a:r>
            <a:r>
              <a:rPr lang="en-US" sz="2000" b="1" dirty="0" err="1"/>
              <a:t>C</a:t>
            </a:r>
            <a:r>
              <a:rPr lang="en-US" sz="2000" b="1" dirty="0"/>
              <a:t>. To the immediate left of A	</a:t>
            </a:r>
          </a:p>
          <a:p>
            <a:pPr marL="457200" indent="-457200">
              <a:buNone/>
            </a:pPr>
            <a:r>
              <a:rPr lang="en-US" sz="2000" b="1" dirty="0"/>
              <a:t>D. To the immediate right of B	          E. None of these</a:t>
            </a:r>
          </a:p>
          <a:p>
            <a:pPr>
              <a:buNone/>
            </a:pPr>
            <a:r>
              <a:rPr lang="en-US" sz="2000" b="1" dirty="0"/>
              <a:t>Q 4. Who are the </a:t>
            </a:r>
            <a:r>
              <a:rPr lang="en-US" sz="2000" b="1" dirty="0" err="1"/>
              <a:t>neighbours</a:t>
            </a:r>
            <a:r>
              <a:rPr lang="en-US" sz="2000" b="1" dirty="0"/>
              <a:t> of B?</a:t>
            </a:r>
          </a:p>
          <a:p>
            <a:pPr>
              <a:buNone/>
            </a:pPr>
            <a:r>
              <a:rPr lang="en-US" sz="2000" b="1" dirty="0"/>
              <a:t>	A. A &amp; F 		B. C&amp; D 		C. F &amp; C          		D. Data inadequate </a:t>
            </a:r>
          </a:p>
          <a:p>
            <a:pPr>
              <a:buNone/>
            </a:pPr>
            <a:r>
              <a:rPr lang="en-US" sz="2000" b="1" dirty="0"/>
              <a:t>Q 5. Which of the following persons are sitting adjacent to each other from left to right in the order as shown?</a:t>
            </a:r>
          </a:p>
          <a:p>
            <a:pPr>
              <a:buNone/>
            </a:pPr>
            <a:r>
              <a:rPr lang="en-US" sz="2000" b="1" dirty="0"/>
              <a:t>A.BGC			B. FBC 		C. CDG			D. EDG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69626"/>
            <a:ext cx="11938000" cy="584694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		</a:t>
            </a:r>
          </a:p>
          <a:p>
            <a:pPr>
              <a:buNone/>
            </a:pPr>
            <a:r>
              <a:rPr lang="en-US" sz="2000" b="1" dirty="0"/>
              <a:t> Q 1. Which of the following does not have the pair of persons sitting adjacent to each other?</a:t>
            </a:r>
          </a:p>
          <a:p>
            <a:pPr>
              <a:buNone/>
            </a:pPr>
            <a:r>
              <a:rPr lang="en-US" sz="2000" b="1" dirty="0">
                <a:solidFill>
                  <a:srgbClr val="FF0000"/>
                </a:solidFill>
              </a:rPr>
              <a:t>A. BA	</a:t>
            </a:r>
            <a:r>
              <a:rPr lang="en-US" sz="2000" b="1" dirty="0"/>
              <a:t>	B. CB		C. DE		D. GD		</a:t>
            </a:r>
          </a:p>
          <a:p>
            <a:pPr>
              <a:buNone/>
            </a:pPr>
            <a:r>
              <a:rPr lang="en-US" sz="2000" b="1" dirty="0"/>
              <a:t>Q 2. Which of the following pairs has the 2nd person sitting immediately to the right of the 1st?</a:t>
            </a:r>
          </a:p>
          <a:p>
            <a:pPr>
              <a:buNone/>
            </a:pPr>
            <a:r>
              <a:rPr lang="en-US" sz="2000" b="1" dirty="0"/>
              <a:t>A. AB		B. CB		</a:t>
            </a:r>
            <a:r>
              <a:rPr lang="en-US" sz="2000" b="1" dirty="0">
                <a:solidFill>
                  <a:srgbClr val="FF0000"/>
                </a:solidFill>
              </a:rPr>
              <a:t>C. EA</a:t>
            </a:r>
            <a:r>
              <a:rPr lang="en-US" sz="2000" b="1" dirty="0"/>
              <a:t>		D. DG</a:t>
            </a:r>
          </a:p>
          <a:p>
            <a:pPr>
              <a:buNone/>
            </a:pPr>
            <a:r>
              <a:rPr lang="en-US" sz="2000" b="1" dirty="0"/>
              <a:t>Q 3. What is the position of F?</a:t>
            </a:r>
          </a:p>
          <a:p>
            <a:pPr marL="457200" indent="-457200">
              <a:buNone/>
            </a:pPr>
            <a:r>
              <a:rPr lang="en-US" sz="2000" b="1" dirty="0"/>
              <a:t>A. 3rd to the left of C		B. 2nd to the right of C		</a:t>
            </a:r>
            <a:r>
              <a:rPr lang="en-US" sz="2000" b="1" dirty="0" err="1"/>
              <a:t>C</a:t>
            </a:r>
            <a:r>
              <a:rPr lang="en-US" sz="2000" b="1" dirty="0"/>
              <a:t>. To the immediate left of A	</a:t>
            </a:r>
          </a:p>
          <a:p>
            <a:pPr marL="457200" indent="-457200">
              <a:buNone/>
            </a:pPr>
            <a:r>
              <a:rPr lang="en-US" sz="2000" b="1" dirty="0"/>
              <a:t>D. To the immediate right of B	</a:t>
            </a:r>
            <a:r>
              <a:rPr lang="en-US" sz="2000" b="1" dirty="0">
                <a:solidFill>
                  <a:srgbClr val="FF0000"/>
                </a:solidFill>
              </a:rPr>
              <a:t>E. None of these</a:t>
            </a:r>
          </a:p>
          <a:p>
            <a:pPr>
              <a:buNone/>
            </a:pPr>
            <a:r>
              <a:rPr lang="en-US" sz="2000" b="1" dirty="0"/>
              <a:t>Q 4. Who are the </a:t>
            </a:r>
            <a:r>
              <a:rPr lang="en-US" sz="2000" b="1" dirty="0" err="1"/>
              <a:t>neighbours</a:t>
            </a:r>
            <a:r>
              <a:rPr lang="en-US" sz="2000" b="1" dirty="0"/>
              <a:t> of B?</a:t>
            </a:r>
          </a:p>
          <a:p>
            <a:pPr>
              <a:buNone/>
            </a:pPr>
            <a:r>
              <a:rPr lang="en-US" sz="2000" b="1" dirty="0"/>
              <a:t>	A. A &amp; F 		B. C&amp; D 		</a:t>
            </a:r>
            <a:r>
              <a:rPr lang="en-US" sz="2000" b="1" dirty="0">
                <a:solidFill>
                  <a:srgbClr val="FF0000"/>
                </a:solidFill>
              </a:rPr>
              <a:t>C. F &amp; C          </a:t>
            </a:r>
            <a:r>
              <a:rPr lang="en-US" sz="2000" b="1" dirty="0"/>
              <a:t>		D. Data inadequate </a:t>
            </a:r>
          </a:p>
          <a:p>
            <a:pPr>
              <a:buNone/>
            </a:pPr>
            <a:r>
              <a:rPr lang="en-US" sz="2000" b="1" dirty="0"/>
              <a:t>Q 5. Which of the following persons are sitting adjacent to each other from left to right in the order as shown?</a:t>
            </a:r>
          </a:p>
          <a:p>
            <a:pPr>
              <a:buNone/>
            </a:pPr>
            <a:r>
              <a:rPr lang="en-US" sz="2000" b="1" dirty="0"/>
              <a:t>A.BGC			</a:t>
            </a:r>
            <a:r>
              <a:rPr lang="en-US" sz="2000" b="1" dirty="0">
                <a:solidFill>
                  <a:srgbClr val="FF0000"/>
                </a:solidFill>
              </a:rPr>
              <a:t>B. FBC </a:t>
            </a:r>
            <a:r>
              <a:rPr lang="en-US" sz="2000" b="1" dirty="0"/>
              <a:t>		C. CDG			D. EDG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644577"/>
            <a:ext cx="11733048" cy="577198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PUZZLE TEST(</a:t>
            </a:r>
            <a:r>
              <a:rPr lang="en-US" sz="2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CIRCLE ARRANGEMENT</a:t>
            </a:r>
            <a:r>
              <a:rPr lang="en-US" b="1" dirty="0"/>
              <a:t>)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Arial Black" pitchFamily="34" charset="0"/>
            </a:endParaRPr>
          </a:p>
          <a:p>
            <a:pPr>
              <a:buNone/>
            </a:pPr>
            <a:r>
              <a:rPr lang="en-US" sz="1800" b="1" dirty="0"/>
              <a:t> </a:t>
            </a:r>
            <a:r>
              <a:rPr lang="en-US" b="1" dirty="0"/>
              <a:t>Direction(6 to 8):- </a:t>
            </a:r>
            <a:r>
              <a:rPr lang="en-US" sz="1800" b="1" dirty="0"/>
              <a:t> </a:t>
            </a:r>
            <a:r>
              <a:rPr lang="en-US" b="1" dirty="0"/>
              <a:t>Read the following information to answer these questions.</a:t>
            </a:r>
          </a:p>
          <a:p>
            <a:pPr>
              <a:buNone/>
            </a:pPr>
            <a:r>
              <a:rPr lang="en-US" b="1" dirty="0"/>
              <a:t>P, Q, R, S, T, U, V &amp; W are eight friends sitting around a circle facing towards the centre.</a:t>
            </a:r>
          </a:p>
          <a:p>
            <a:pPr>
              <a:buNone/>
            </a:pPr>
            <a:r>
              <a:rPr lang="en-US" b="1" dirty="0" err="1"/>
              <a:t>i</a:t>
            </a:r>
            <a:r>
              <a:rPr lang="en-US" b="1" dirty="0"/>
              <a:t>) W is to the immediate left of P but is not the </a:t>
            </a:r>
            <a:r>
              <a:rPr lang="en-US" b="1" dirty="0" err="1"/>
              <a:t>neighbour</a:t>
            </a:r>
            <a:r>
              <a:rPr lang="en-US" b="1" dirty="0"/>
              <a:t> of T and S</a:t>
            </a:r>
          </a:p>
          <a:p>
            <a:pPr>
              <a:buNone/>
            </a:pPr>
            <a:r>
              <a:rPr lang="en-US" b="1" dirty="0"/>
              <a:t>ii) U is to the immediate right of Q and V is </a:t>
            </a:r>
            <a:r>
              <a:rPr lang="en-US" b="1" dirty="0" err="1"/>
              <a:t>neighbour</a:t>
            </a:r>
            <a:r>
              <a:rPr lang="en-US" b="1" dirty="0"/>
              <a:t> of T</a:t>
            </a:r>
          </a:p>
          <a:p>
            <a:pPr>
              <a:buNone/>
            </a:pPr>
            <a:r>
              <a:rPr lang="en-US" b="1" dirty="0"/>
              <a:t>iii) R is between T and U</a:t>
            </a:r>
          </a:p>
          <a:p>
            <a:pPr>
              <a:buNone/>
            </a:pPr>
            <a:r>
              <a:rPr lang="en-US" b="1" dirty="0"/>
              <a:t> 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644577"/>
            <a:ext cx="11987048" cy="577198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PUZZLE TEST(</a:t>
            </a:r>
            <a:r>
              <a:rPr lang="en-US" sz="2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CIRCLE ARRANGEMENT</a:t>
            </a:r>
            <a:r>
              <a:rPr lang="en-US" b="1" dirty="0"/>
              <a:t>)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Arial Black" pitchFamily="34" charset="0"/>
            </a:endParaRPr>
          </a:p>
          <a:p>
            <a:pPr>
              <a:buNone/>
            </a:pPr>
            <a:r>
              <a:rPr lang="en-US" sz="1800" b="1" dirty="0"/>
              <a:t> </a:t>
            </a:r>
            <a:r>
              <a:rPr lang="en-US" sz="2000" b="1" dirty="0"/>
              <a:t>Q 6. What is the position of V?</a:t>
            </a:r>
          </a:p>
          <a:p>
            <a:pPr marL="342900" indent="-342900">
              <a:buNone/>
            </a:pPr>
            <a:r>
              <a:rPr lang="en-US" sz="2000" b="1" dirty="0"/>
              <a:t>a. To the immediate right of W		b. Between T and R		c. Third to the right of U</a:t>
            </a:r>
          </a:p>
          <a:p>
            <a:pPr marL="342900" indent="-342900">
              <a:buNone/>
            </a:pPr>
            <a:r>
              <a:rPr lang="en-US" sz="2000" b="1" dirty="0"/>
              <a:t>d. Second to the left of S		e. None of these</a:t>
            </a:r>
          </a:p>
          <a:p>
            <a:pPr>
              <a:buNone/>
            </a:pPr>
            <a:r>
              <a:rPr lang="en-US" sz="2000" b="1" dirty="0"/>
              <a:t> </a:t>
            </a:r>
          </a:p>
          <a:p>
            <a:pPr>
              <a:buNone/>
            </a:pPr>
            <a:r>
              <a:rPr lang="en-US" sz="2000" b="1" dirty="0"/>
              <a:t>Q 7. What is the position of S?</a:t>
            </a:r>
          </a:p>
          <a:p>
            <a:pPr>
              <a:buNone/>
            </a:pPr>
            <a:r>
              <a:rPr lang="en-US" sz="2000" b="1" dirty="0"/>
              <a:t>a. Between Q and U			b. To the immediate left of P	c. Second to the right of U      </a:t>
            </a:r>
          </a:p>
          <a:p>
            <a:pPr>
              <a:buNone/>
            </a:pPr>
            <a:r>
              <a:rPr lang="en-US" sz="2000" b="1" dirty="0"/>
              <a:t>d. To the immediate left of Q		e. None of these</a:t>
            </a:r>
          </a:p>
          <a:p>
            <a:pPr>
              <a:buNone/>
            </a:pPr>
            <a:r>
              <a:rPr lang="en-US" sz="2000" b="1" dirty="0"/>
              <a:t> </a:t>
            </a:r>
          </a:p>
          <a:p>
            <a:pPr>
              <a:buNone/>
            </a:pPr>
            <a:r>
              <a:rPr lang="en-US" sz="2000" b="1" dirty="0"/>
              <a:t>Q 8. Which of the following statements is true?</a:t>
            </a:r>
          </a:p>
          <a:p>
            <a:pPr>
              <a:buNone/>
            </a:pPr>
            <a:r>
              <a:rPr lang="en-US" sz="2000" b="1" dirty="0"/>
              <a:t>a. U is the </a:t>
            </a:r>
            <a:r>
              <a:rPr lang="en-US" sz="2000" b="1" dirty="0" err="1"/>
              <a:t>neighbour</a:t>
            </a:r>
            <a:r>
              <a:rPr lang="en-US" sz="2000" b="1" dirty="0"/>
              <a:t> of V		b. V is between W and T	c. W is between P and S</a:t>
            </a:r>
          </a:p>
          <a:p>
            <a:pPr>
              <a:buNone/>
            </a:pPr>
            <a:r>
              <a:rPr lang="en-US" sz="2000" b="1" dirty="0"/>
              <a:t>d. T is between U and Q		e. None of these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629587"/>
            <a:ext cx="11987048" cy="578697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PUZZLE TEST(</a:t>
            </a:r>
            <a:r>
              <a:rPr lang="en-US" sz="2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CIRCLE ARRANGEMENT</a:t>
            </a:r>
            <a:r>
              <a:rPr lang="en-US" b="1" dirty="0"/>
              <a:t>)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Arial Black" pitchFamily="34" charset="0"/>
            </a:endParaRPr>
          </a:p>
          <a:p>
            <a:pPr>
              <a:buNone/>
            </a:pPr>
            <a:r>
              <a:rPr lang="en-US" sz="1800" b="1" dirty="0"/>
              <a:t> </a:t>
            </a:r>
            <a:r>
              <a:rPr lang="en-US" sz="2000" b="1" dirty="0"/>
              <a:t>Q 6. What is the position of V?</a:t>
            </a:r>
          </a:p>
          <a:p>
            <a:pPr marL="342900" indent="-342900">
              <a:buNone/>
            </a:pPr>
            <a:r>
              <a:rPr lang="en-US" sz="2000" b="1" dirty="0"/>
              <a:t>a. To the immediate right of W		b. Between T and R		</a:t>
            </a:r>
            <a:r>
              <a:rPr lang="en-US" sz="2000" b="1" dirty="0">
                <a:solidFill>
                  <a:srgbClr val="FF0000"/>
                </a:solidFill>
              </a:rPr>
              <a:t>c. Third to the right of U</a:t>
            </a:r>
          </a:p>
          <a:p>
            <a:pPr marL="342900" indent="-342900">
              <a:buNone/>
            </a:pPr>
            <a:r>
              <a:rPr lang="en-US" sz="2000" b="1" dirty="0"/>
              <a:t>d. Second to the left of S		e. None of these</a:t>
            </a:r>
          </a:p>
          <a:p>
            <a:pPr>
              <a:buNone/>
            </a:pPr>
            <a:r>
              <a:rPr lang="en-US" sz="2000" b="1" dirty="0"/>
              <a:t> </a:t>
            </a:r>
          </a:p>
          <a:p>
            <a:pPr>
              <a:buNone/>
            </a:pPr>
            <a:r>
              <a:rPr lang="en-US" sz="2000" b="1" dirty="0"/>
              <a:t>Q 7. What is the position of S?</a:t>
            </a:r>
          </a:p>
          <a:p>
            <a:pPr>
              <a:buNone/>
            </a:pPr>
            <a:r>
              <a:rPr lang="en-US" sz="2000" b="1" dirty="0"/>
              <a:t>a. Between Q and U			b. To the immediate left of P	c. Second to the right of U      </a:t>
            </a:r>
          </a:p>
          <a:p>
            <a:pPr>
              <a:buNone/>
            </a:pPr>
            <a:r>
              <a:rPr lang="en-US" sz="2000" b="1" dirty="0">
                <a:solidFill>
                  <a:srgbClr val="FF0000"/>
                </a:solidFill>
              </a:rPr>
              <a:t>d. To the immediate left of Q</a:t>
            </a:r>
            <a:r>
              <a:rPr lang="en-US" sz="2000" b="1" dirty="0"/>
              <a:t>		e. None of these</a:t>
            </a:r>
          </a:p>
          <a:p>
            <a:pPr>
              <a:buNone/>
            </a:pPr>
            <a:r>
              <a:rPr lang="en-US" sz="2000" b="1" dirty="0"/>
              <a:t> </a:t>
            </a:r>
          </a:p>
          <a:p>
            <a:pPr>
              <a:buNone/>
            </a:pPr>
            <a:r>
              <a:rPr lang="en-US" sz="2000" b="1" dirty="0"/>
              <a:t>Q 8. Which of the following statements is true?</a:t>
            </a:r>
          </a:p>
          <a:p>
            <a:pPr>
              <a:buNone/>
            </a:pPr>
            <a:r>
              <a:rPr lang="en-US" sz="2000" b="1" dirty="0"/>
              <a:t>a. U is the </a:t>
            </a:r>
            <a:r>
              <a:rPr lang="en-US" sz="2000" b="1" dirty="0" err="1"/>
              <a:t>neighbour</a:t>
            </a:r>
            <a:r>
              <a:rPr lang="en-US" sz="2000" b="1" dirty="0"/>
              <a:t> of V		</a:t>
            </a:r>
            <a:r>
              <a:rPr lang="en-US" sz="2000" b="1" dirty="0">
                <a:solidFill>
                  <a:srgbClr val="FF0000"/>
                </a:solidFill>
              </a:rPr>
              <a:t>b. V is between W and T</a:t>
            </a:r>
            <a:r>
              <a:rPr lang="en-US" sz="2000" b="1" dirty="0"/>
              <a:t>	c. W is between P and S</a:t>
            </a:r>
          </a:p>
          <a:p>
            <a:pPr>
              <a:buNone/>
            </a:pPr>
            <a:r>
              <a:rPr lang="en-US" sz="2000" b="1" dirty="0"/>
              <a:t>d. T is between U and Q		e. None of these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629587"/>
            <a:ext cx="11733048" cy="578697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PUZZLE TEST(</a:t>
            </a:r>
            <a:r>
              <a:rPr lang="en-US" sz="2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CIRCLE ARRANGEMENT</a:t>
            </a:r>
            <a:r>
              <a:rPr lang="en-US" b="1" dirty="0"/>
              <a:t>)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Arial Black" pitchFamily="34" charset="0"/>
            </a:endParaRPr>
          </a:p>
          <a:p>
            <a:pPr>
              <a:buNone/>
            </a:pPr>
            <a:r>
              <a:rPr lang="en-US" sz="1800" b="1" dirty="0"/>
              <a:t>	</a:t>
            </a:r>
            <a:r>
              <a:rPr lang="en-US" b="1" dirty="0"/>
              <a:t>Direction(9 to 13):-  Read the following information to answer these questions.</a:t>
            </a:r>
            <a:br>
              <a:rPr lang="en-US" b="1" dirty="0"/>
            </a:br>
            <a:r>
              <a:rPr lang="en-US" b="1" dirty="0"/>
              <a:t>(</a:t>
            </a:r>
            <a:r>
              <a:rPr lang="en-US" b="1" dirty="0" err="1"/>
              <a:t>i</a:t>
            </a:r>
            <a:r>
              <a:rPr lang="en-US" b="1" dirty="0"/>
              <a:t>) A, B, C, D, E, F and G are playing cards sitting around a circular table </a:t>
            </a:r>
            <a:br>
              <a:rPr lang="en-US" b="1" dirty="0"/>
            </a:br>
            <a:r>
              <a:rPr lang="en-US" b="1" dirty="0"/>
              <a:t>(ii) D is not </a:t>
            </a:r>
            <a:r>
              <a:rPr lang="en-US" b="1" dirty="0" err="1"/>
              <a:t>neighbour</a:t>
            </a:r>
            <a:r>
              <a:rPr lang="en-US" b="1" dirty="0"/>
              <a:t> of C or E </a:t>
            </a:r>
            <a:br>
              <a:rPr lang="en-US" b="1" dirty="0"/>
            </a:br>
            <a:r>
              <a:rPr lang="en-US" b="1" dirty="0"/>
              <a:t>(iii) A is </a:t>
            </a:r>
            <a:r>
              <a:rPr lang="en-US" b="1" dirty="0" err="1"/>
              <a:t>neighbour</a:t>
            </a:r>
            <a:r>
              <a:rPr lang="en-US" b="1" dirty="0"/>
              <a:t> of B and C </a:t>
            </a:r>
            <a:br>
              <a:rPr lang="en-US" b="1" dirty="0"/>
            </a:br>
            <a:r>
              <a:rPr lang="en-US" b="1" dirty="0"/>
              <a:t>(iv) G who is second to the left of D, is the </a:t>
            </a:r>
            <a:r>
              <a:rPr lang="en-US" b="1" dirty="0" err="1"/>
              <a:t>neighbour</a:t>
            </a:r>
            <a:r>
              <a:rPr lang="en-US" b="1" dirty="0"/>
              <a:t> of E and F </a:t>
            </a:r>
            <a:br>
              <a:rPr lang="en-US" b="1" dirty="0"/>
            </a:br>
            <a:endParaRPr lang="en-US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599607"/>
            <a:ext cx="11733048" cy="5816959"/>
          </a:xfrm>
        </p:spPr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PUZZLE TEST(</a:t>
            </a:r>
            <a:r>
              <a:rPr lang="en-US" sz="2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CIRCLE ARRANGEMENT</a:t>
            </a:r>
            <a:r>
              <a:rPr lang="en-US" b="1" dirty="0"/>
              <a:t>)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Arial Black" pitchFamily="34" charset="0"/>
            </a:endParaRPr>
          </a:p>
          <a:p>
            <a:pPr>
              <a:buNone/>
            </a:pPr>
            <a:r>
              <a:rPr lang="en-US" sz="1800" b="1" dirty="0"/>
              <a:t> </a:t>
            </a:r>
            <a:r>
              <a:rPr lang="en-US" b="1" dirty="0"/>
              <a:t>Q</a:t>
            </a:r>
            <a:r>
              <a:rPr lang="en-US" sz="1800" b="1" dirty="0"/>
              <a:t> </a:t>
            </a:r>
            <a:r>
              <a:rPr lang="en-US" b="1" dirty="0"/>
              <a:t>9. Which of the following is correct? </a:t>
            </a:r>
          </a:p>
          <a:p>
            <a:pPr>
              <a:buNone/>
            </a:pPr>
            <a:r>
              <a:rPr lang="en-US" b="1" dirty="0"/>
              <a:t>(1) B is between A and D 		(2) D is between F and G 		(3) E is to the immediate right of G </a:t>
            </a:r>
          </a:p>
          <a:p>
            <a:pPr>
              <a:buNone/>
            </a:pPr>
            <a:r>
              <a:rPr lang="en-US" b="1" dirty="0"/>
              <a:t>(4) F is to the immediate left of G </a:t>
            </a:r>
            <a:br>
              <a:rPr lang="en-US" b="1" dirty="0"/>
            </a:br>
            <a:endParaRPr lang="en-US" b="1" dirty="0"/>
          </a:p>
          <a:p>
            <a:pPr>
              <a:buNone/>
            </a:pPr>
            <a:r>
              <a:rPr lang="en-US" b="1" dirty="0"/>
              <a:t>Q 10. Which of the following has the pair with the second person sitting to the immediate right of the first person? </a:t>
            </a:r>
          </a:p>
          <a:p>
            <a:pPr>
              <a:buNone/>
            </a:pPr>
            <a:r>
              <a:rPr lang="en-US" b="1" dirty="0"/>
              <a:t>(1) BD 		(2) GF		 (3) EC		 (4) AE </a:t>
            </a:r>
            <a:br>
              <a:rPr lang="en-US" b="1" dirty="0"/>
            </a:br>
            <a:endParaRPr lang="en-US" b="1" dirty="0"/>
          </a:p>
          <a:p>
            <a:pPr>
              <a:buNone/>
            </a:pPr>
            <a:r>
              <a:rPr lang="en-US" b="1" dirty="0"/>
              <a:t>Q 11. Which of the following will be D's position after E and D interchange their places? </a:t>
            </a:r>
          </a:p>
          <a:p>
            <a:pPr>
              <a:buNone/>
            </a:pPr>
            <a:r>
              <a:rPr lang="en-US" b="1" dirty="0"/>
              <a:t>(1) </a:t>
            </a:r>
            <a:r>
              <a:rPr lang="en-US" b="1" dirty="0" err="1"/>
              <a:t>Neighbour</a:t>
            </a:r>
            <a:r>
              <a:rPr lang="en-US" b="1" dirty="0"/>
              <a:t> of G and C 		(2) To the immediate left of C 		(3) To the immediate right of F </a:t>
            </a:r>
          </a:p>
          <a:p>
            <a:pPr>
              <a:buNone/>
            </a:pPr>
            <a:r>
              <a:rPr lang="en-US" b="1" dirty="0"/>
              <a:t>(4) </a:t>
            </a:r>
            <a:r>
              <a:rPr lang="en-US" b="1" dirty="0" err="1"/>
              <a:t>Neighbour</a:t>
            </a:r>
            <a:r>
              <a:rPr lang="en-US" b="1" dirty="0"/>
              <a:t> of C and A </a:t>
            </a:r>
            <a:br>
              <a:rPr lang="en-US" b="1" dirty="0"/>
            </a:br>
            <a:endParaRPr lang="en-US" b="1" dirty="0"/>
          </a:p>
          <a:p>
            <a:pPr>
              <a:buNone/>
            </a:pPr>
            <a:r>
              <a:rPr lang="en-US" b="1" dirty="0"/>
              <a:t>Q 12. What is the position of C? </a:t>
            </a:r>
          </a:p>
          <a:p>
            <a:pPr>
              <a:buNone/>
            </a:pPr>
            <a:r>
              <a:rPr lang="en-US" b="1" dirty="0"/>
              <a:t>(1) Second to the left of B 		(2) Third to the right of F 		(3) To the immediate left of A </a:t>
            </a:r>
          </a:p>
          <a:p>
            <a:pPr>
              <a:buNone/>
            </a:pPr>
            <a:r>
              <a:rPr lang="en-US" b="1" dirty="0"/>
              <a:t>(4) None of these </a:t>
            </a:r>
            <a:br>
              <a:rPr lang="en-US" b="1" dirty="0"/>
            </a:br>
            <a:endParaRPr lang="en-US" b="1" dirty="0"/>
          </a:p>
          <a:p>
            <a:pPr>
              <a:buNone/>
            </a:pPr>
            <a:r>
              <a:rPr lang="en-US" b="1" dirty="0"/>
              <a:t>Q 13. Which of the following is wrong? </a:t>
            </a:r>
          </a:p>
          <a:p>
            <a:pPr>
              <a:buNone/>
            </a:pPr>
            <a:r>
              <a:rPr lang="en-US" b="1" dirty="0"/>
              <a:t>(1) A is to the immediate right of B 	(2) B is to the immediate left of D 	(3) F is between G and D </a:t>
            </a:r>
          </a:p>
          <a:p>
            <a:pPr>
              <a:buNone/>
            </a:pPr>
            <a:r>
              <a:rPr lang="en-US" b="1" dirty="0"/>
              <a:t>(4) E is between G and 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674557"/>
            <a:ext cx="11733048" cy="5742009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PUZZLE TEST(</a:t>
            </a:r>
            <a:r>
              <a:rPr lang="en-US" sz="2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CIRCLE ARRANGEMENT</a:t>
            </a:r>
            <a:r>
              <a:rPr lang="en-US" b="1" dirty="0"/>
              <a:t>)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Arial Black" pitchFamily="34" charset="0"/>
            </a:endParaRPr>
          </a:p>
          <a:p>
            <a:pPr>
              <a:buNone/>
            </a:pPr>
            <a:r>
              <a:rPr lang="en-US" sz="1800" b="1" dirty="0"/>
              <a:t> </a:t>
            </a:r>
            <a:r>
              <a:rPr lang="en-US" sz="2200" b="1" dirty="0"/>
              <a:t>Q 9. Which of the following is correct? </a:t>
            </a:r>
          </a:p>
          <a:p>
            <a:pPr>
              <a:buNone/>
            </a:pPr>
            <a:r>
              <a:rPr lang="en-US" sz="2200" b="1" dirty="0">
                <a:solidFill>
                  <a:srgbClr val="FF0000"/>
                </a:solidFill>
              </a:rPr>
              <a:t>(1) B is between A and D </a:t>
            </a:r>
            <a:r>
              <a:rPr lang="en-US" sz="2200" b="1" dirty="0"/>
              <a:t>		(2) D is between F and G 		(3) E is to the immediate right of G </a:t>
            </a:r>
          </a:p>
          <a:p>
            <a:pPr>
              <a:buNone/>
            </a:pPr>
            <a:r>
              <a:rPr lang="en-US" sz="2200" b="1" dirty="0"/>
              <a:t>(4) F is to the immediate left of G </a:t>
            </a:r>
            <a:br>
              <a:rPr lang="en-US" sz="2200" b="1" dirty="0"/>
            </a:br>
            <a:endParaRPr lang="en-US" sz="2200" b="1" dirty="0"/>
          </a:p>
          <a:p>
            <a:pPr>
              <a:buNone/>
            </a:pPr>
            <a:r>
              <a:rPr lang="en-US" sz="2200" b="1" dirty="0"/>
              <a:t>Q 10. Which of the following has the pair with the second person sitting to the immediate right of the first person? </a:t>
            </a:r>
          </a:p>
          <a:p>
            <a:pPr>
              <a:buNone/>
            </a:pPr>
            <a:r>
              <a:rPr lang="en-US" sz="2200" b="1" dirty="0"/>
              <a:t>(1) BD 		</a:t>
            </a:r>
            <a:r>
              <a:rPr lang="en-US" sz="2200" b="1" dirty="0">
                <a:solidFill>
                  <a:srgbClr val="FF0000"/>
                </a:solidFill>
              </a:rPr>
              <a:t>(2) GF</a:t>
            </a:r>
            <a:r>
              <a:rPr lang="en-US" sz="2200" b="1" dirty="0"/>
              <a:t>		 (3) EC		 (4) AE </a:t>
            </a:r>
            <a:br>
              <a:rPr lang="en-US" sz="2200" b="1" dirty="0"/>
            </a:br>
            <a:endParaRPr lang="en-US" sz="2200" b="1" dirty="0"/>
          </a:p>
          <a:p>
            <a:pPr>
              <a:buNone/>
            </a:pPr>
            <a:r>
              <a:rPr lang="en-US" sz="2200" b="1" dirty="0"/>
              <a:t>Q 11. Which of the following will be D's position after E and D interchange their places? </a:t>
            </a:r>
          </a:p>
          <a:p>
            <a:pPr>
              <a:buNone/>
            </a:pPr>
            <a:r>
              <a:rPr lang="en-US" sz="2200" b="1" dirty="0">
                <a:solidFill>
                  <a:srgbClr val="FF0000"/>
                </a:solidFill>
              </a:rPr>
              <a:t>(1) </a:t>
            </a:r>
            <a:r>
              <a:rPr lang="en-US" sz="2200" b="1" dirty="0" err="1">
                <a:solidFill>
                  <a:srgbClr val="FF0000"/>
                </a:solidFill>
              </a:rPr>
              <a:t>Neighbour</a:t>
            </a:r>
            <a:r>
              <a:rPr lang="en-US" sz="2200" b="1" dirty="0">
                <a:solidFill>
                  <a:srgbClr val="FF0000"/>
                </a:solidFill>
              </a:rPr>
              <a:t> of G and C </a:t>
            </a:r>
            <a:r>
              <a:rPr lang="en-US" sz="2200" b="1" dirty="0"/>
              <a:t>		(2) To the immediate left of C 		(3) To the immediate right of F </a:t>
            </a:r>
          </a:p>
          <a:p>
            <a:pPr>
              <a:buNone/>
            </a:pPr>
            <a:r>
              <a:rPr lang="en-US" sz="2200" b="1" dirty="0"/>
              <a:t>(4) </a:t>
            </a:r>
            <a:r>
              <a:rPr lang="en-US" sz="2200" b="1" dirty="0" err="1"/>
              <a:t>Neighbour</a:t>
            </a:r>
            <a:r>
              <a:rPr lang="en-US" sz="2200" b="1" dirty="0"/>
              <a:t> of C and A </a:t>
            </a:r>
            <a:br>
              <a:rPr lang="en-US" sz="2200" b="1" dirty="0"/>
            </a:br>
            <a:endParaRPr lang="en-US" sz="2200" b="1" dirty="0"/>
          </a:p>
          <a:p>
            <a:pPr>
              <a:buNone/>
            </a:pPr>
            <a:r>
              <a:rPr lang="en-US" sz="2200" b="1" dirty="0"/>
              <a:t>Q 12. What is the position of C? </a:t>
            </a:r>
          </a:p>
          <a:p>
            <a:pPr>
              <a:buNone/>
            </a:pPr>
            <a:r>
              <a:rPr lang="en-US" sz="2200" b="1" dirty="0"/>
              <a:t>(1) Second to the left of B 		(2) Third to the right of F 		(3) To the immediate left of A </a:t>
            </a:r>
          </a:p>
          <a:p>
            <a:pPr>
              <a:buNone/>
            </a:pPr>
            <a:r>
              <a:rPr lang="en-US" sz="2200" b="1" dirty="0">
                <a:solidFill>
                  <a:srgbClr val="FF0000"/>
                </a:solidFill>
              </a:rPr>
              <a:t>(4) None of these </a:t>
            </a:r>
            <a:br>
              <a:rPr lang="en-US" sz="2200" b="1" dirty="0"/>
            </a:br>
            <a:endParaRPr lang="en-US" sz="2200" b="1" dirty="0"/>
          </a:p>
          <a:p>
            <a:pPr>
              <a:buNone/>
            </a:pPr>
            <a:r>
              <a:rPr lang="en-US" sz="2200" b="1" dirty="0"/>
              <a:t>Q 13. Which of the following is wrong? </a:t>
            </a:r>
          </a:p>
          <a:p>
            <a:pPr>
              <a:buNone/>
            </a:pPr>
            <a:r>
              <a:rPr lang="en-US" sz="2200" b="1" dirty="0"/>
              <a:t>(1) A is to the immediate right of B 	</a:t>
            </a:r>
            <a:r>
              <a:rPr lang="en-US" sz="2200" b="1" dirty="0">
                <a:solidFill>
                  <a:srgbClr val="FF0000"/>
                </a:solidFill>
              </a:rPr>
              <a:t>(2) B is to the immediate left of D </a:t>
            </a:r>
            <a:r>
              <a:rPr lang="en-US" sz="2200" b="1" dirty="0"/>
              <a:t>	(3) F is between G and D </a:t>
            </a:r>
          </a:p>
          <a:p>
            <a:pPr>
              <a:buNone/>
            </a:pPr>
            <a:r>
              <a:rPr lang="en-US" sz="2200" b="1" dirty="0"/>
              <a:t>(4) E is between G and 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659567"/>
            <a:ext cx="11733048" cy="575699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PUZZLE TEST(</a:t>
            </a:r>
            <a:r>
              <a:rPr lang="en-US" sz="2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CIRCLE ARRANGEMENT</a:t>
            </a:r>
            <a:r>
              <a:rPr lang="en-US" b="1" dirty="0"/>
              <a:t>)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Arial Black" pitchFamily="34" charset="0"/>
            </a:endParaRPr>
          </a:p>
          <a:p>
            <a:pPr>
              <a:buNone/>
            </a:pPr>
            <a:r>
              <a:rPr lang="en-US" sz="1800" b="1" dirty="0"/>
              <a:t> </a:t>
            </a:r>
            <a:r>
              <a:rPr lang="en-US" b="1" dirty="0"/>
              <a:t>Direction(14 to 18):- Read the following information to answer these questions.</a:t>
            </a:r>
          </a:p>
          <a:p>
            <a:pPr>
              <a:buNone/>
            </a:pPr>
            <a:r>
              <a:rPr b="1" dirty="0"/>
              <a:t>Six people A, B, C, D, E and F are sitting on the ground in a hexagonal shape. All the sides of the hexagon so formed as of same length. A is not adjacent to B or C, D is not adjacent to C or E, B and C are adjacent, F is in the middle of D and C.</a:t>
            </a:r>
            <a:endParaRPr lang="en-US" b="1" dirty="0"/>
          </a:p>
          <a:p>
            <a:pPr>
              <a:buNone/>
            </a:pPr>
            <a:r>
              <a:rPr sz="1800" b="1" dirty="0"/>
              <a:t> </a:t>
            </a:r>
            <a:endParaRPr lang="en-US" sz="1800" b="1" dirty="0"/>
          </a:p>
          <a:p>
            <a:pPr>
              <a:buNone/>
            </a:pPr>
            <a:r>
              <a:rPr lang="en-US" sz="1800" b="1" dirty="0"/>
              <a:t> </a:t>
            </a:r>
            <a:endParaRPr lang="en-US" b="1" dirty="0"/>
          </a:p>
          <a:p>
            <a:pPr>
              <a:buNone/>
            </a:pPr>
            <a:r>
              <a:rPr lang="en-US" b="1" dirty="0"/>
              <a:t>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629587"/>
            <a:ext cx="11987048" cy="578697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PUZZLE TEST(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CIRCLE ARRANGEMENT</a:t>
            </a:r>
            <a:r>
              <a:rPr lang="en-US" b="1" dirty="0"/>
              <a:t>)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Arial Black" pitchFamily="34" charset="0"/>
            </a:endParaRPr>
          </a:p>
          <a:p>
            <a:pPr>
              <a:buNone/>
            </a:pPr>
            <a:r>
              <a:rPr lang="en-US" b="1" dirty="0"/>
              <a:t> Q 14. Which of the following is not a correct </a:t>
            </a:r>
            <a:r>
              <a:rPr lang="en-US" b="1" dirty="0" err="1"/>
              <a:t>neighbour</a:t>
            </a:r>
            <a:r>
              <a:rPr lang="en-US" b="1" dirty="0"/>
              <a:t> pair?</a:t>
            </a:r>
          </a:p>
          <a:p>
            <a:pPr>
              <a:buNone/>
            </a:pPr>
            <a:r>
              <a:rPr lang="en-US" b="1" dirty="0"/>
              <a:t>1) A and F	2) D and F	3) B and E	4) C and F</a:t>
            </a:r>
          </a:p>
          <a:p>
            <a:pPr>
              <a:buNone/>
            </a:pPr>
            <a:r>
              <a:rPr lang="en-US" b="1" dirty="0"/>
              <a:t>Q 15. Which of the following is in the right sequence?</a:t>
            </a:r>
          </a:p>
          <a:p>
            <a:pPr>
              <a:buNone/>
            </a:pPr>
            <a:r>
              <a:rPr lang="en-US" b="1" dirty="0"/>
              <a:t>1)A,F,B	2)F,A,E	3)B,C,F	4)D,A,B</a:t>
            </a:r>
          </a:p>
          <a:p>
            <a:pPr>
              <a:buNone/>
            </a:pPr>
            <a:r>
              <a:rPr lang="en-US" b="1" dirty="0"/>
              <a:t>Q 16. Who is at the same distance from D as E is from D?</a:t>
            </a:r>
          </a:p>
          <a:p>
            <a:pPr>
              <a:buNone/>
            </a:pPr>
            <a:r>
              <a:rPr lang="en-US" b="1" dirty="0"/>
              <a:t>1)B		2)C		3)D		4)F</a:t>
            </a:r>
          </a:p>
          <a:p>
            <a:pPr>
              <a:buNone/>
            </a:pPr>
            <a:r>
              <a:rPr lang="en-US" b="1" dirty="0"/>
              <a:t>Q 17. If one </a:t>
            </a:r>
            <a:r>
              <a:rPr lang="en-US" b="1" dirty="0" err="1"/>
              <a:t>neighbour</a:t>
            </a:r>
            <a:r>
              <a:rPr lang="en-US" b="1" dirty="0"/>
              <a:t> of A is D, who is the other one?</a:t>
            </a:r>
          </a:p>
          <a:p>
            <a:pPr>
              <a:buNone/>
            </a:pPr>
            <a:r>
              <a:rPr lang="en-US" b="1" dirty="0"/>
              <a:t>1)B		2)C		3)E		4)F</a:t>
            </a:r>
          </a:p>
          <a:p>
            <a:pPr>
              <a:buNone/>
            </a:pPr>
            <a:r>
              <a:rPr lang="en-US" b="1" dirty="0"/>
              <a:t>Q 18. Who is placed opposite to E?	</a:t>
            </a:r>
          </a:p>
          <a:p>
            <a:pPr>
              <a:buNone/>
            </a:pPr>
            <a:r>
              <a:rPr lang="en-US" b="1" dirty="0"/>
              <a:t>1)B		2)C		3)D		4)F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659567"/>
            <a:ext cx="11987048" cy="575699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PUZZLE TEST(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CIRCLE ARRANGEMENT</a:t>
            </a:r>
            <a:r>
              <a:rPr lang="en-US" b="1" dirty="0"/>
              <a:t>)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Arial Black" pitchFamily="34" charset="0"/>
            </a:endParaRPr>
          </a:p>
          <a:p>
            <a:pPr>
              <a:buNone/>
            </a:pPr>
            <a:r>
              <a:rPr lang="en-US" b="1" dirty="0"/>
              <a:t> Q 14. Which of the following is not a correct </a:t>
            </a:r>
            <a:r>
              <a:rPr lang="en-US" b="1" dirty="0" err="1"/>
              <a:t>neighbour</a:t>
            </a:r>
            <a:r>
              <a:rPr lang="en-US" b="1" dirty="0"/>
              <a:t> pair?</a:t>
            </a:r>
          </a:p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1) A and F</a:t>
            </a:r>
            <a:r>
              <a:rPr lang="en-US" b="1" dirty="0"/>
              <a:t>	2) D and F	3) B and E	4) C and F</a:t>
            </a:r>
          </a:p>
          <a:p>
            <a:pPr>
              <a:buNone/>
            </a:pPr>
            <a:r>
              <a:rPr lang="en-US" b="1" dirty="0"/>
              <a:t>Q 15. Which of the following is in the right sequence?</a:t>
            </a:r>
          </a:p>
          <a:p>
            <a:pPr>
              <a:buNone/>
            </a:pPr>
            <a:r>
              <a:rPr lang="en-US" b="1" dirty="0"/>
              <a:t>1) A,F,B	2) F,A,E</a:t>
            </a:r>
            <a:r>
              <a:rPr lang="en-US" b="1" dirty="0">
                <a:solidFill>
                  <a:srgbClr val="FF0000"/>
                </a:solidFill>
              </a:rPr>
              <a:t>	3) B,C,F</a:t>
            </a:r>
            <a:r>
              <a:rPr lang="en-US" b="1" dirty="0"/>
              <a:t>	4) D,A,B</a:t>
            </a:r>
          </a:p>
          <a:p>
            <a:pPr>
              <a:buNone/>
            </a:pPr>
            <a:r>
              <a:rPr lang="en-US" b="1" dirty="0"/>
              <a:t>Q 16. Who is at the same distance from D as E is from D?</a:t>
            </a:r>
          </a:p>
          <a:p>
            <a:pPr>
              <a:buNone/>
            </a:pPr>
            <a:r>
              <a:rPr lang="en-US" b="1" dirty="0"/>
              <a:t>1) B		</a:t>
            </a:r>
            <a:r>
              <a:rPr lang="en-US" b="1" dirty="0">
                <a:solidFill>
                  <a:srgbClr val="FF0000"/>
                </a:solidFill>
              </a:rPr>
              <a:t>2) C</a:t>
            </a:r>
            <a:r>
              <a:rPr lang="en-US" b="1" dirty="0"/>
              <a:t>		3) D		4) F</a:t>
            </a:r>
          </a:p>
          <a:p>
            <a:pPr>
              <a:buNone/>
            </a:pPr>
            <a:r>
              <a:rPr lang="en-US" b="1" dirty="0"/>
              <a:t>Q 17. If one </a:t>
            </a:r>
            <a:r>
              <a:rPr lang="en-US" b="1" dirty="0" err="1"/>
              <a:t>neighbour</a:t>
            </a:r>
            <a:r>
              <a:rPr lang="en-US" b="1" dirty="0"/>
              <a:t> of A is D, who is the other one?</a:t>
            </a:r>
          </a:p>
          <a:p>
            <a:pPr>
              <a:buNone/>
            </a:pPr>
            <a:r>
              <a:rPr lang="en-US" b="1" dirty="0"/>
              <a:t>1) B		2) C		</a:t>
            </a:r>
            <a:r>
              <a:rPr lang="en-US" b="1" dirty="0">
                <a:solidFill>
                  <a:srgbClr val="FF0000"/>
                </a:solidFill>
              </a:rPr>
              <a:t>3) E</a:t>
            </a:r>
            <a:r>
              <a:rPr lang="en-US" b="1" dirty="0"/>
              <a:t>		4) F</a:t>
            </a:r>
          </a:p>
          <a:p>
            <a:pPr>
              <a:buNone/>
            </a:pPr>
            <a:r>
              <a:rPr lang="en-US" b="1" dirty="0"/>
              <a:t>Q 18. Who is placed opposite to E?	</a:t>
            </a:r>
          </a:p>
          <a:p>
            <a:pPr>
              <a:buNone/>
            </a:pPr>
            <a:r>
              <a:rPr lang="en-US" b="1" dirty="0"/>
              <a:t>1) B		</a:t>
            </a:r>
            <a:r>
              <a:rPr lang="en-US" b="1" dirty="0">
                <a:solidFill>
                  <a:srgbClr val="FF0000"/>
                </a:solidFill>
              </a:rPr>
              <a:t>2) C</a:t>
            </a:r>
            <a:r>
              <a:rPr lang="en-US" b="1" dirty="0"/>
              <a:t>		3) D		4) F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756744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			PUZZLE TEST(CIRCLE ARRANGEMENT</a:t>
            </a:r>
            <a:r>
              <a:rPr lang="en-US" b="1" dirty="0"/>
              <a:t>)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buNone/>
            </a:pPr>
            <a:r>
              <a:rPr lang="en-US" b="1" dirty="0"/>
              <a:t> Direction(19 to 23):- Read the following information to answer these questions.</a:t>
            </a:r>
          </a:p>
          <a:p>
            <a:pPr>
              <a:buNone/>
            </a:pPr>
            <a:r>
              <a:rPr lang="en-US" b="1" dirty="0"/>
              <a:t>Seven friends </a:t>
            </a:r>
            <a:r>
              <a:rPr lang="en-US" b="1" dirty="0" err="1"/>
              <a:t>Kamla</a:t>
            </a:r>
            <a:r>
              <a:rPr lang="en-US" b="1" dirty="0"/>
              <a:t>, Manish, </a:t>
            </a:r>
            <a:r>
              <a:rPr lang="en-US" b="1" dirty="0" err="1"/>
              <a:t>Rohit</a:t>
            </a:r>
            <a:r>
              <a:rPr lang="en-US" b="1" dirty="0"/>
              <a:t>, </a:t>
            </a:r>
            <a:r>
              <a:rPr lang="en-US" b="1" dirty="0" err="1"/>
              <a:t>Amit</a:t>
            </a:r>
            <a:r>
              <a:rPr lang="en-US" b="1" dirty="0"/>
              <a:t>, </a:t>
            </a:r>
            <a:r>
              <a:rPr lang="en-US" b="1" dirty="0" err="1"/>
              <a:t>Gaurav</a:t>
            </a:r>
            <a:r>
              <a:rPr lang="en-US" b="1" dirty="0"/>
              <a:t>, </a:t>
            </a:r>
            <a:r>
              <a:rPr lang="en-US" b="1" dirty="0" err="1"/>
              <a:t>Pritam</a:t>
            </a:r>
            <a:r>
              <a:rPr lang="en-US" b="1" dirty="0"/>
              <a:t> and </a:t>
            </a:r>
            <a:r>
              <a:rPr lang="en-US" b="1" dirty="0" err="1"/>
              <a:t>Priya</a:t>
            </a:r>
            <a:r>
              <a:rPr lang="en-US" b="1" dirty="0"/>
              <a:t> are sitting in a circle. </a:t>
            </a:r>
            <a:r>
              <a:rPr lang="en-US" b="1" dirty="0" err="1"/>
              <a:t>Kamla</a:t>
            </a:r>
            <a:r>
              <a:rPr lang="en-US" b="1" dirty="0"/>
              <a:t>, Manish, </a:t>
            </a:r>
            <a:r>
              <a:rPr lang="en-US" b="1" dirty="0" err="1"/>
              <a:t>Rohit</a:t>
            </a:r>
            <a:r>
              <a:rPr lang="en-US" b="1" dirty="0"/>
              <a:t>, </a:t>
            </a:r>
            <a:r>
              <a:rPr lang="en-US" b="1" dirty="0" err="1"/>
              <a:t>Amit</a:t>
            </a:r>
            <a:r>
              <a:rPr lang="en-US" b="1" dirty="0"/>
              <a:t>, </a:t>
            </a:r>
            <a:r>
              <a:rPr lang="en-US" b="1" dirty="0" err="1"/>
              <a:t>Pritam</a:t>
            </a:r>
            <a:r>
              <a:rPr lang="en-US" b="1" dirty="0"/>
              <a:t> and </a:t>
            </a:r>
            <a:r>
              <a:rPr lang="en-US" b="1" dirty="0" err="1"/>
              <a:t>Priya</a:t>
            </a:r>
            <a:r>
              <a:rPr lang="en-US" b="1" dirty="0"/>
              <a:t> are sitting at equal distances from each other. </a:t>
            </a:r>
            <a:r>
              <a:rPr lang="en-US" b="1" dirty="0" err="1"/>
              <a:t>Rohit</a:t>
            </a:r>
            <a:r>
              <a:rPr lang="en-US" b="1" dirty="0"/>
              <a:t> is sitting three places right of </a:t>
            </a:r>
            <a:r>
              <a:rPr lang="en-US" b="1" dirty="0" err="1"/>
              <a:t>Pritam</a:t>
            </a:r>
            <a:r>
              <a:rPr lang="en-US" b="1" dirty="0"/>
              <a:t>, who is sitting one place right of </a:t>
            </a:r>
            <a:r>
              <a:rPr lang="en-US" b="1" dirty="0" err="1"/>
              <a:t>Amit</a:t>
            </a:r>
            <a:r>
              <a:rPr lang="en-US" b="1" dirty="0"/>
              <a:t>. </a:t>
            </a:r>
            <a:r>
              <a:rPr lang="en-US" b="1" dirty="0" err="1"/>
              <a:t>Kamla</a:t>
            </a:r>
            <a:r>
              <a:rPr lang="en-US" b="1" dirty="0"/>
              <a:t> forms an angle of 90 degrees from </a:t>
            </a:r>
            <a:r>
              <a:rPr lang="en-US" b="1" dirty="0" err="1"/>
              <a:t>Gaurav</a:t>
            </a:r>
            <a:r>
              <a:rPr lang="en-US" b="1" dirty="0"/>
              <a:t> and an angle of 120 degrees from Manish. Manish is just opposite </a:t>
            </a:r>
            <a:r>
              <a:rPr lang="en-US" b="1" dirty="0" err="1"/>
              <a:t>Priya</a:t>
            </a:r>
            <a:r>
              <a:rPr lang="en-US" b="1" dirty="0"/>
              <a:t> and is sitting on the left of </a:t>
            </a:r>
            <a:r>
              <a:rPr lang="en-US" b="1" dirty="0" err="1"/>
              <a:t>Gaurav</a:t>
            </a:r>
            <a:r>
              <a:rPr lang="en-US" b="1" dirty="0"/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415636"/>
            <a:ext cx="11733048" cy="6442363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</a:t>
            </a:r>
          </a:p>
          <a:p>
            <a:pPr>
              <a:buNone/>
            </a:pPr>
            <a:r>
              <a:rPr lang="en-US" sz="2000" b="1" dirty="0"/>
              <a:t> </a:t>
            </a:r>
            <a:r>
              <a:rPr lang="en-US" b="1" dirty="0"/>
              <a:t>Q 19. Who is the only person sitting between </a:t>
            </a:r>
            <a:r>
              <a:rPr lang="en-US" b="1" dirty="0" err="1"/>
              <a:t>Rohit</a:t>
            </a:r>
            <a:r>
              <a:rPr lang="en-US" b="1" dirty="0"/>
              <a:t> and Manish?</a:t>
            </a:r>
          </a:p>
          <a:p>
            <a:pPr>
              <a:buNone/>
            </a:pPr>
            <a:r>
              <a:rPr lang="en-US" b="1" dirty="0"/>
              <a:t>(a) Pritam 	      (b) Amit		(c) Gaurav	   (d) Kamla</a:t>
            </a:r>
          </a:p>
          <a:p>
            <a:pPr>
              <a:buNone/>
            </a:pPr>
            <a:r>
              <a:rPr lang="en-US" b="1" dirty="0"/>
              <a:t> </a:t>
            </a:r>
          </a:p>
          <a:p>
            <a:pPr>
              <a:buNone/>
            </a:pPr>
            <a:r>
              <a:rPr lang="en-US" b="1" dirty="0"/>
              <a:t>Q 20. </a:t>
            </a:r>
            <a:r>
              <a:rPr lang="en-US" b="1" dirty="0" err="1"/>
              <a:t>Gaurav</a:t>
            </a:r>
            <a:r>
              <a:rPr lang="en-US" b="1" dirty="0"/>
              <a:t> is not sitting at equal distances from</a:t>
            </a:r>
          </a:p>
          <a:p>
            <a:pPr marL="457200" indent="-457200">
              <a:buAutoNum type="alphaLcParenBoth"/>
            </a:pPr>
            <a:r>
              <a:rPr lang="en-US" b="1" dirty="0"/>
              <a:t>Rohit and Pritam	 (b) Amit and Kamla	(c) Manish and Pritam     </a:t>
            </a:r>
          </a:p>
          <a:p>
            <a:pPr marL="0" indent="0">
              <a:buNone/>
            </a:pPr>
            <a:r>
              <a:rPr lang="en-US" b="1" dirty="0"/>
              <a:t>(d) All</a:t>
            </a:r>
          </a:p>
          <a:p>
            <a:pPr>
              <a:buNone/>
            </a:pPr>
            <a:r>
              <a:rPr lang="en-US" b="1" dirty="0"/>
              <a:t> </a:t>
            </a:r>
          </a:p>
          <a:p>
            <a:pPr>
              <a:buNone/>
            </a:pPr>
            <a:r>
              <a:rPr lang="en-US" b="1" dirty="0"/>
              <a:t>Q 21. Gaurav is sitting ………….. Of Priya.</a:t>
            </a:r>
          </a:p>
          <a:p>
            <a:pPr>
              <a:buNone/>
            </a:pPr>
            <a:r>
              <a:rPr lang="en-US" b="1" dirty="0"/>
              <a:t>(a) to the left	   (b) to the right	 (c) two places right	(d) None of these</a:t>
            </a:r>
          </a:p>
          <a:p>
            <a:pPr>
              <a:buNone/>
            </a:pPr>
            <a:r>
              <a:rPr lang="en-US" sz="2000" b="1" dirty="0"/>
              <a:t> 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415636"/>
            <a:ext cx="11733048" cy="6442363"/>
          </a:xfrm>
        </p:spPr>
        <p:txBody>
          <a:bodyPr>
            <a:noAutofit/>
          </a:bodyPr>
          <a:lstStyle/>
          <a:p>
            <a:pPr>
              <a:buNone/>
            </a:pPr>
            <a:endParaRPr lang="en-US" sz="2000" b="1" dirty="0">
              <a:solidFill>
                <a:schemeClr val="tx1">
                  <a:lumMod val="95000"/>
                  <a:lumOff val="5000"/>
                </a:schemeClr>
              </a:solidFill>
              <a:latin typeface="Arial Black" pitchFamily="34" charset="0"/>
            </a:endParaRPr>
          </a:p>
          <a:p>
            <a:pPr>
              <a:buNone/>
            </a:pPr>
            <a:r>
              <a:rPr lang="en-US" sz="2000" b="1" dirty="0"/>
              <a:t> </a:t>
            </a:r>
            <a:r>
              <a:rPr lang="en-US" b="1" dirty="0"/>
              <a:t>Q 19. Who is the only person sitting between </a:t>
            </a:r>
            <a:r>
              <a:rPr lang="en-US" b="1" dirty="0" err="1"/>
              <a:t>Rohit</a:t>
            </a:r>
            <a:r>
              <a:rPr lang="en-US" b="1" dirty="0"/>
              <a:t> and Manish?</a:t>
            </a:r>
          </a:p>
          <a:p>
            <a:pPr>
              <a:buNone/>
            </a:pPr>
            <a:r>
              <a:rPr lang="en-US" b="1" dirty="0"/>
              <a:t>(a) Pritam 	     (b) Amit		</a:t>
            </a:r>
            <a:r>
              <a:rPr lang="en-US" b="1" dirty="0">
                <a:solidFill>
                  <a:srgbClr val="FF0000"/>
                </a:solidFill>
              </a:rPr>
              <a:t>(c) Gaurav</a:t>
            </a:r>
            <a:r>
              <a:rPr lang="en-US" b="1" dirty="0"/>
              <a:t>	  (d) Kamla</a:t>
            </a:r>
          </a:p>
          <a:p>
            <a:pPr>
              <a:buNone/>
            </a:pPr>
            <a:r>
              <a:rPr lang="en-US" b="1" dirty="0"/>
              <a:t> </a:t>
            </a:r>
          </a:p>
          <a:p>
            <a:pPr>
              <a:buNone/>
            </a:pPr>
            <a:r>
              <a:rPr lang="en-US" b="1" dirty="0"/>
              <a:t>Q 20. </a:t>
            </a:r>
            <a:r>
              <a:rPr lang="en-US" b="1" dirty="0" err="1"/>
              <a:t>Gaurav</a:t>
            </a:r>
            <a:r>
              <a:rPr lang="en-US" b="1" dirty="0"/>
              <a:t> is not sitting at equal distances from</a:t>
            </a:r>
          </a:p>
          <a:p>
            <a:pPr marL="457200" indent="-457200">
              <a:buAutoNum type="alphaLcParenBoth"/>
            </a:pPr>
            <a:r>
              <a:rPr lang="en-US" b="1" dirty="0"/>
              <a:t>Rohit and Pritam	 (b) Amit and Kamla        (c) Manish and Pritam    </a:t>
            </a:r>
            <a:r>
              <a:rPr lang="en-US" b="1" dirty="0">
                <a:solidFill>
                  <a:srgbClr val="FF0000"/>
                </a:solidFill>
              </a:rPr>
              <a:t> 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(d) All</a:t>
            </a:r>
          </a:p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 </a:t>
            </a:r>
          </a:p>
          <a:p>
            <a:pPr>
              <a:buNone/>
            </a:pPr>
            <a:r>
              <a:rPr lang="en-US" b="1" dirty="0"/>
              <a:t>Q 21. Gaurav is sitting ………….. Of Priya.</a:t>
            </a:r>
          </a:p>
          <a:p>
            <a:pPr>
              <a:buNone/>
            </a:pPr>
            <a:r>
              <a:rPr lang="en-US" b="1" dirty="0"/>
              <a:t>(a) to the left	    (b) to the right	 (c) two places right	</a:t>
            </a:r>
            <a:r>
              <a:rPr lang="en-US" b="1" dirty="0">
                <a:solidFill>
                  <a:srgbClr val="FF0000"/>
                </a:solidFill>
              </a:rPr>
              <a:t>(d) None of these</a:t>
            </a:r>
          </a:p>
          <a:p>
            <a:pPr>
              <a:buNone/>
            </a:pPr>
            <a:r>
              <a:rPr lang="en-US" b="1" dirty="0"/>
              <a:t> 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404734"/>
            <a:ext cx="11733048" cy="6453265"/>
          </a:xfrm>
        </p:spPr>
        <p:txBody>
          <a:bodyPr>
            <a:noAutofit/>
          </a:bodyPr>
          <a:lstStyle/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Q 22. The angle between </a:t>
            </a:r>
            <a:r>
              <a:rPr lang="en-US" b="1" dirty="0" err="1"/>
              <a:t>Gaurav</a:t>
            </a:r>
            <a:r>
              <a:rPr lang="en-US" b="1" dirty="0"/>
              <a:t> and Manish in the clockwise direction is </a:t>
            </a:r>
          </a:p>
          <a:p>
            <a:pPr>
              <a:buNone/>
            </a:pPr>
            <a:r>
              <a:rPr lang="en-US" b="1" dirty="0"/>
              <a:t>(a) 150º		(b) 180º		(c) 210º		(d) None of these</a:t>
            </a:r>
          </a:p>
          <a:p>
            <a:pPr>
              <a:buNone/>
            </a:pPr>
            <a:r>
              <a:rPr lang="en-US" b="1" dirty="0"/>
              <a:t> </a:t>
            </a:r>
          </a:p>
          <a:p>
            <a:pPr>
              <a:buNone/>
            </a:pPr>
            <a:r>
              <a:rPr lang="en-US" b="1" dirty="0"/>
              <a:t>Q 23. Which of the following statements is not correct?</a:t>
            </a:r>
          </a:p>
          <a:p>
            <a:pPr>
              <a:buNone/>
            </a:pPr>
            <a:r>
              <a:rPr lang="en-US" b="1" dirty="0"/>
              <a:t>(a) Pritam is between Manish and Kamla. </a:t>
            </a:r>
          </a:p>
          <a:p>
            <a:pPr>
              <a:buNone/>
            </a:pPr>
            <a:r>
              <a:rPr lang="en-US" b="1" dirty="0"/>
              <a:t>(b) Manish is two places away from Priya.</a:t>
            </a:r>
          </a:p>
          <a:p>
            <a:pPr>
              <a:buNone/>
            </a:pPr>
            <a:r>
              <a:rPr lang="en-US" b="1" dirty="0"/>
              <a:t>(c) Gaurav is sitting opposite Pritam			</a:t>
            </a:r>
          </a:p>
          <a:p>
            <a:pPr>
              <a:buNone/>
            </a:pPr>
            <a:r>
              <a:rPr lang="en-US" b="1" dirty="0"/>
              <a:t>(d) All the above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EBA2AAF-5085-40A9-F67F-92BA501BD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8C763-5AB0-E6A3-16DE-205A2BC152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952" y="239844"/>
            <a:ext cx="11733048" cy="6618156"/>
          </a:xfrm>
        </p:spPr>
        <p:txBody>
          <a:bodyPr>
            <a:noAutofit/>
          </a:bodyPr>
          <a:lstStyle/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Q 22. The angle between </a:t>
            </a:r>
            <a:r>
              <a:rPr lang="en-US" b="1" dirty="0" err="1"/>
              <a:t>Gaurav</a:t>
            </a:r>
            <a:r>
              <a:rPr lang="en-US" b="1" dirty="0"/>
              <a:t> and Manish in the clockwise direction is </a:t>
            </a:r>
          </a:p>
          <a:p>
            <a:pPr>
              <a:buNone/>
            </a:pPr>
            <a:r>
              <a:rPr lang="en-US" b="1" dirty="0"/>
              <a:t>(a) 150º		(b) 180º		(c) 210º		</a:t>
            </a:r>
            <a:r>
              <a:rPr lang="en-US" b="1" dirty="0">
                <a:solidFill>
                  <a:srgbClr val="FF0000"/>
                </a:solidFill>
              </a:rPr>
              <a:t>(d) None of these</a:t>
            </a:r>
          </a:p>
          <a:p>
            <a:pPr>
              <a:buNone/>
            </a:pPr>
            <a:r>
              <a:rPr lang="en-US" b="1" dirty="0"/>
              <a:t> </a:t>
            </a:r>
          </a:p>
          <a:p>
            <a:pPr>
              <a:buNone/>
            </a:pPr>
            <a:r>
              <a:rPr lang="en-US" b="1" dirty="0"/>
              <a:t>Q 23. Which of the following statements is not correct?</a:t>
            </a:r>
          </a:p>
          <a:p>
            <a:pPr marL="457200" indent="-457200">
              <a:buAutoNum type="alphaLcParenBoth"/>
            </a:pPr>
            <a:r>
              <a:rPr lang="en-US" b="1" dirty="0"/>
              <a:t>Pritam is between Manish and Kamla.			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(b) Manish is two places away from Priya.</a:t>
            </a:r>
          </a:p>
          <a:p>
            <a:pPr>
              <a:buNone/>
            </a:pPr>
            <a:r>
              <a:rPr lang="en-US" b="1" dirty="0"/>
              <a:t>(c) Gaurav is sitting opposite Pritam			</a:t>
            </a:r>
          </a:p>
          <a:p>
            <a:pPr>
              <a:buNone/>
            </a:pPr>
            <a:r>
              <a:rPr lang="en-US" b="1" dirty="0"/>
              <a:t>(d) All the above</a:t>
            </a:r>
          </a:p>
        </p:txBody>
      </p:sp>
    </p:spTree>
    <p:extLst>
      <p:ext uri="{BB962C8B-B14F-4D97-AF65-F5344CB8AC3E}">
        <p14:creationId xmlns:p14="http://schemas.microsoft.com/office/powerpoint/2010/main" val="36792143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68436" y="2299854"/>
            <a:ext cx="66778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rgbClr val="FF0000"/>
                </a:solidFill>
                <a:latin typeface="Arial Black" pitchFamily="34" charset="0"/>
              </a:rPr>
              <a:t>THANK YOU</a:t>
            </a:r>
            <a:endParaRPr lang="en-US" sz="4800" dirty="0">
              <a:solidFill>
                <a:srgbClr val="FF0000"/>
              </a:solidFill>
              <a:latin typeface="Arial Black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1216</TotalTime>
  <Words>2592</Words>
  <Application>Microsoft Office PowerPoint</Application>
  <PresentationFormat>Widescreen</PresentationFormat>
  <Paragraphs>169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Arial Black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 -10 (CBSE)</dc:title>
  <dc:creator>anuj gupta</dc:creator>
  <cp:lastModifiedBy>Harshit Singla</cp:lastModifiedBy>
  <cp:revision>193</cp:revision>
  <dcterms:created xsi:type="dcterms:W3CDTF">2020-02-23T06:37:57Z</dcterms:created>
  <dcterms:modified xsi:type="dcterms:W3CDTF">2025-01-12T10:53:20Z</dcterms:modified>
</cp:coreProperties>
</file>